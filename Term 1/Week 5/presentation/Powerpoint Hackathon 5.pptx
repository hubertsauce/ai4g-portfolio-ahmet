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57" r:id="rId6"/>
    <p:sldId id="258" r:id="rId7"/>
    <p:sldId id="259" r:id="rId8"/>
    <p:sldId id="260" r:id="rId9"/>
    <p:sldId id="261" r:id="rId10"/>
    <p:sldId id="262" r:id="rId11"/>
    <p:sldId id="263"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 dt="2026-10-08T13:34:22.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830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problem in one sentence: we built a classifier that helps a social welfare organisation decide who to contact first when its outreach capacity is limited. Mention SDG 8 and that this is a model comparison, not just one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Make the user group very specific. The direct user is a municipal welfare outreach team with capacity for 500 home visits per year. The affected niche is self-employed adults who are entitled to healthcare allowance but may not claim it. CPB data show 679,000 people missed healthcare allowance in 2021, and more than 25% of eligible self-employed people did not claim it. The model is a prototype trained on old US census data, so it would need retraining on current Dutch data before real deployment. The concrete impact is that the organisation can personally reach up to 500 people from this high-risk group each year.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pipeline from left to right. Stress the split-first decision because it is exactly what the rubric asks for and protects against leakage. Sex and race were not training features; they were kept separately for subgroup checks.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message is not just that gradient boosting has the highest score. Its CV and test balanced accuracy are almost identical, which suggests the tuning result generalised well. KNN has higher recall, but wastes many more visits on false positives.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confusion matrix in plain language. Gradient boosting correctly finds 4,070 low-income people and correctly skips 1,359 higher-income people. We kept the 0.5 threshold because lowering it helps recall but consumes too much of the 500-visit capacity.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important limitation. Even without sex as an input, proxies remain and the model behaves differently across groups. Also stress the population mismatch: this is a learning prototype built on 1994 US data, not a deployable Dutch welfare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live demo slide. Case 1 is confidently predicted as low income. Case 2 is predicted as higher income, but it resembles the exact subgroup the model tends to miss. That is a useful reminder that a probability is not a guarantee.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 with the recommendation and the limitation in the same breath. The result is a strong prototype and a fair model comparison, but not a system we would deploy directly in the Netherlands. Emphasise retraining, local validation and human oversight.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6611112"/>
            <a:ext cx="12191695" cy="246888"/>
          </a:xfrm>
          <a:prstGeom prst="rect">
            <a:avLst/>
          </a:prstGeom>
          <a:solidFill>
            <a:srgbClr val="0B1220"/>
          </a:solidFill>
          <a:ln w="12700">
            <a:solidFill>
              <a:srgbClr val="0B1220"/>
            </a:solidFill>
            <a:prstDash val="solid"/>
          </a:ln>
        </p:spPr>
        <p:txBody>
          <a:bodyPr/>
          <a:lstStyle/>
          <a:p>
            <a:endParaRPr lang="nl-NL"/>
          </a:p>
        </p:txBody>
      </p:sp>
      <p:sp>
        <p:nvSpPr>
          <p:cNvPr id="3" name="Text 1"/>
          <p:cNvSpPr/>
          <p:nvPr/>
        </p:nvSpPr>
        <p:spPr>
          <a:xfrm>
            <a:off x="438912" y="6647688"/>
            <a:ext cx="2926080" cy="128016"/>
          </a:xfrm>
          <a:prstGeom prst="rect">
            <a:avLst/>
          </a:prstGeom>
          <a:noFill/>
          <a:ln/>
        </p:spPr>
        <p:txBody>
          <a:bodyPr wrap="square" lIns="0" tIns="0" rIns="0" bIns="0" rtlCol="0" anchor="ctr"/>
          <a:lstStyle/>
          <a:p>
            <a:pPr marL="0" indent="0">
              <a:buNone/>
            </a:pPr>
            <a:r>
              <a:rPr lang="en-US" sz="680">
                <a:solidFill>
                  <a:srgbClr val="D7DCE8"/>
                </a:solidFill>
                <a:latin typeface="Aptos" pitchFamily="34" charset="0"/>
                <a:ea typeface="Aptos" pitchFamily="34" charset="-122"/>
                <a:cs typeface="Aptos" pitchFamily="34" charset="-120"/>
              </a:rPr>
              <a:t>AI FOR GOOD · HACKATHON 5</a:t>
            </a:r>
            <a:endParaRPr lang="en-US" sz="680"/>
          </a:p>
        </p:txBody>
      </p:sp>
      <p:sp>
        <p:nvSpPr>
          <p:cNvPr id="25"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3.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111B2E"/>
          </a:solidFill>
          <a:ln w="12700">
            <a:solidFill>
              <a:srgbClr val="111B2E"/>
            </a:solidFill>
            <a:prstDash val="solid"/>
          </a:ln>
        </p:spPr>
        <p:txBody>
          <a:bodyPr/>
          <a:lstStyle/>
          <a:p>
            <a:endParaRPr lang="nl-NL"/>
          </a:p>
        </p:txBody>
      </p:sp>
      <p:sp>
        <p:nvSpPr>
          <p:cNvPr id="3" name="Shape 1"/>
          <p:cNvSpPr/>
          <p:nvPr/>
        </p:nvSpPr>
        <p:spPr>
          <a:xfrm>
            <a:off x="9235440" y="822960"/>
            <a:ext cx="2011680" cy="2011680"/>
          </a:xfrm>
          <a:prstGeom prst="ellipse">
            <a:avLst/>
          </a:prstGeom>
          <a:solidFill>
            <a:srgbClr val="5B5FEF">
              <a:alpha val="90000"/>
            </a:srgbClr>
          </a:solidFill>
          <a:ln w="12700">
            <a:solidFill>
              <a:srgbClr val="5B5FEF">
                <a:alpha val="0"/>
              </a:srgbClr>
            </a:solidFill>
            <a:prstDash val="solid"/>
          </a:ln>
        </p:spPr>
        <p:txBody>
          <a:bodyPr/>
          <a:lstStyle/>
          <a:p>
            <a:endParaRPr lang="nl-NL"/>
          </a:p>
        </p:txBody>
      </p:sp>
      <p:sp>
        <p:nvSpPr>
          <p:cNvPr id="4" name="Shape 2"/>
          <p:cNvSpPr/>
          <p:nvPr/>
        </p:nvSpPr>
        <p:spPr>
          <a:xfrm>
            <a:off x="10195560" y="2011680"/>
            <a:ext cx="1234440" cy="1234440"/>
          </a:xfrm>
          <a:prstGeom prst="ellipse">
            <a:avLst/>
          </a:prstGeom>
          <a:solidFill>
            <a:srgbClr val="12B8A6">
              <a:alpha val="94000"/>
            </a:srgbClr>
          </a:solidFill>
          <a:ln w="12700">
            <a:solidFill>
              <a:srgbClr val="12B8A6">
                <a:alpha val="0"/>
              </a:srgbClr>
            </a:solidFill>
            <a:prstDash val="solid"/>
          </a:ln>
        </p:spPr>
        <p:txBody>
          <a:bodyPr/>
          <a:lstStyle/>
          <a:p>
            <a:endParaRPr lang="nl-NL"/>
          </a:p>
        </p:txBody>
      </p:sp>
      <p:sp>
        <p:nvSpPr>
          <p:cNvPr id="5" name="Shape 3"/>
          <p:cNvSpPr/>
          <p:nvPr/>
        </p:nvSpPr>
        <p:spPr>
          <a:xfrm>
            <a:off x="8942832" y="3703320"/>
            <a:ext cx="1463040" cy="1463040"/>
          </a:xfrm>
          <a:prstGeom prst="ellipse">
            <a:avLst/>
          </a:prstGeom>
          <a:solidFill>
            <a:srgbClr val="F59E0B">
              <a:alpha val="94000"/>
            </a:srgbClr>
          </a:solidFill>
          <a:ln w="12700">
            <a:solidFill>
              <a:srgbClr val="F59E0B">
                <a:alpha val="0"/>
              </a:srgbClr>
            </a:solidFill>
            <a:prstDash val="solid"/>
          </a:ln>
        </p:spPr>
        <p:txBody>
          <a:bodyPr/>
          <a:lstStyle/>
          <a:p>
            <a:endParaRPr lang="nl-NL"/>
          </a:p>
        </p:txBody>
      </p:sp>
      <p:sp>
        <p:nvSpPr>
          <p:cNvPr id="6" name="Shape 4"/>
          <p:cNvSpPr/>
          <p:nvPr/>
        </p:nvSpPr>
        <p:spPr>
          <a:xfrm>
            <a:off x="9948672" y="2423160"/>
            <a:ext cx="1051560" cy="182880"/>
          </a:xfrm>
          <a:prstGeom prst="line">
            <a:avLst/>
          </a:prstGeom>
          <a:noFill/>
          <a:ln w="25400">
            <a:solidFill>
              <a:srgbClr val="8C95FF"/>
            </a:solidFill>
            <a:prstDash val="solid"/>
          </a:ln>
        </p:spPr>
        <p:txBody>
          <a:bodyPr/>
          <a:lstStyle/>
          <a:p>
            <a:endParaRPr lang="nl-NL"/>
          </a:p>
        </p:txBody>
      </p:sp>
      <p:sp>
        <p:nvSpPr>
          <p:cNvPr id="7" name="Shape 5"/>
          <p:cNvSpPr/>
          <p:nvPr/>
        </p:nvSpPr>
        <p:spPr>
          <a:xfrm>
            <a:off x="9628632" y="2880360"/>
            <a:ext cx="0" cy="1051560"/>
          </a:xfrm>
          <a:prstGeom prst="line">
            <a:avLst/>
          </a:prstGeom>
          <a:noFill/>
          <a:ln w="25400">
            <a:solidFill>
              <a:srgbClr val="49D9C5"/>
            </a:solidFill>
            <a:prstDash val="solid"/>
          </a:ln>
        </p:spPr>
        <p:txBody>
          <a:bodyPr/>
          <a:lstStyle/>
          <a:p>
            <a:endParaRPr lang="nl-NL"/>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11512" y="1417320"/>
            <a:ext cx="731520" cy="731520"/>
          </a:xfrm>
          <a:prstGeom prst="rect">
            <a:avLst/>
          </a:prstGeom>
        </p:spPr>
      </p:pic>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54896" y="4114800"/>
            <a:ext cx="502920" cy="502920"/>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61320" y="2359152"/>
            <a:ext cx="411480" cy="411480"/>
          </a:xfrm>
          <a:prstGeom prst="rect">
            <a:avLst/>
          </a:prstGeom>
        </p:spPr>
      </p:pic>
      <p:sp>
        <p:nvSpPr>
          <p:cNvPr id="11" name="Shape 6"/>
          <p:cNvSpPr/>
          <p:nvPr/>
        </p:nvSpPr>
        <p:spPr>
          <a:xfrm>
            <a:off x="658368" y="685800"/>
            <a:ext cx="3063240" cy="310896"/>
          </a:xfrm>
          <a:prstGeom prst="roundRect">
            <a:avLst>
              <a:gd name="adj" fmla="val 23529"/>
            </a:avLst>
          </a:prstGeom>
          <a:solidFill>
            <a:srgbClr val="25324A"/>
          </a:solidFill>
          <a:ln w="12700">
            <a:solidFill>
              <a:srgbClr val="25324A"/>
            </a:solidFill>
            <a:prstDash val="solid"/>
          </a:ln>
        </p:spPr>
        <p:txBody>
          <a:bodyPr/>
          <a:lstStyle/>
          <a:p>
            <a:endParaRPr lang="nl-NL"/>
          </a:p>
        </p:txBody>
      </p:sp>
      <p:sp>
        <p:nvSpPr>
          <p:cNvPr id="12" name="Text 7"/>
          <p:cNvSpPr/>
          <p:nvPr/>
        </p:nvSpPr>
        <p:spPr>
          <a:xfrm>
            <a:off x="731520" y="736092"/>
            <a:ext cx="2916936" cy="182880"/>
          </a:xfrm>
          <a:prstGeom prst="rect">
            <a:avLst/>
          </a:prstGeom>
          <a:noFill/>
          <a:ln/>
        </p:spPr>
        <p:txBody>
          <a:bodyPr wrap="square" lIns="0" tIns="0" rIns="0" bIns="0" rtlCol="0" anchor="ctr"/>
          <a:lstStyle/>
          <a:p>
            <a:pPr marL="0" indent="0" algn="ctr">
              <a:buNone/>
            </a:pPr>
            <a:r>
              <a:rPr lang="en-US" sz="840" b="1">
                <a:solidFill>
                  <a:srgbClr val="B9C1FF"/>
                </a:solidFill>
              </a:rPr>
              <a:t>SDG 8 · DECENT WORK &amp; ECONOMIC GROWTH</a:t>
            </a:r>
            <a:endParaRPr lang="en-US" sz="840"/>
          </a:p>
        </p:txBody>
      </p:sp>
      <p:sp>
        <p:nvSpPr>
          <p:cNvPr id="13" name="Text 8"/>
          <p:cNvSpPr/>
          <p:nvPr/>
        </p:nvSpPr>
        <p:spPr>
          <a:xfrm>
            <a:off x="658368" y="1417320"/>
            <a:ext cx="5852160" cy="1554480"/>
          </a:xfrm>
          <a:prstGeom prst="rect">
            <a:avLst/>
          </a:prstGeom>
          <a:noFill/>
          <a:ln/>
        </p:spPr>
        <p:txBody>
          <a:bodyPr wrap="square" lIns="0" tIns="0" rIns="0" bIns="0" rtlCol="0" anchor="ctr"/>
          <a:lstStyle/>
          <a:p>
            <a:pPr marL="0" indent="0">
              <a:buNone/>
            </a:pPr>
            <a:r>
              <a:rPr lang="en-US" sz="3900" b="1">
                <a:solidFill>
                  <a:srgbClr val="FFFFFF"/>
                </a:solidFill>
                <a:latin typeface="Aptos Display" pitchFamily="34" charset="0"/>
                <a:ea typeface="Aptos Display" pitchFamily="34" charset="-122"/>
                <a:cs typeface="Aptos Display" pitchFamily="34" charset="-120"/>
              </a:rPr>
              <a:t>Income</a:t>
            </a:r>
            <a:endParaRPr lang="en-US" sz="3900"/>
          </a:p>
          <a:p>
            <a:pPr marL="0" indent="0">
              <a:buNone/>
            </a:pPr>
            <a:r>
              <a:rPr lang="en-US" sz="3900" b="1">
                <a:solidFill>
                  <a:srgbClr val="FFFFFF"/>
                </a:solidFill>
                <a:latin typeface="Aptos Display" pitchFamily="34" charset="0"/>
                <a:ea typeface="Aptos Display" pitchFamily="34" charset="-122"/>
                <a:cs typeface="Aptos Display" pitchFamily="34" charset="-120"/>
              </a:rPr>
              <a:t>Predictor</a:t>
            </a:r>
            <a:endParaRPr lang="en-US" sz="3900"/>
          </a:p>
        </p:txBody>
      </p:sp>
      <p:sp>
        <p:nvSpPr>
          <p:cNvPr id="14" name="Text 9"/>
          <p:cNvSpPr/>
          <p:nvPr/>
        </p:nvSpPr>
        <p:spPr>
          <a:xfrm>
            <a:off x="685800" y="3218688"/>
            <a:ext cx="5303520" cy="347472"/>
          </a:xfrm>
          <a:prstGeom prst="rect">
            <a:avLst/>
          </a:prstGeom>
          <a:noFill/>
          <a:ln/>
        </p:spPr>
        <p:txBody>
          <a:bodyPr wrap="square" lIns="0" tIns="0" rIns="0" bIns="0" rtlCol="0" anchor="ctr"/>
          <a:lstStyle/>
          <a:p>
            <a:pPr marL="0" indent="0">
              <a:buNone/>
            </a:pPr>
            <a:r>
              <a:rPr lang="en-US" sz="1600" b="1">
                <a:solidFill>
                  <a:srgbClr val="BFC7D8"/>
                </a:solidFill>
              </a:rPr>
              <a:t>Hackathon 5 · Model Showdown</a:t>
            </a:r>
            <a:endParaRPr lang="en-US" sz="1600"/>
          </a:p>
        </p:txBody>
      </p:sp>
      <p:sp>
        <p:nvSpPr>
          <p:cNvPr id="15" name="Text 10"/>
          <p:cNvSpPr/>
          <p:nvPr/>
        </p:nvSpPr>
        <p:spPr>
          <a:xfrm>
            <a:off x="685800" y="3730752"/>
            <a:ext cx="6675120" cy="475488"/>
          </a:xfrm>
          <a:prstGeom prst="rect">
            <a:avLst/>
          </a:prstGeom>
          <a:noFill/>
          <a:ln/>
        </p:spPr>
        <p:txBody>
          <a:bodyPr wrap="square" lIns="0" tIns="0" rIns="0" bIns="0" rtlCol="0" anchor="ctr"/>
          <a:lstStyle/>
          <a:p>
            <a:pPr marL="0" indent="0">
              <a:buNone/>
            </a:pPr>
            <a:r>
              <a:rPr lang="en-US" sz="1800">
                <a:solidFill>
                  <a:srgbClr val="FFFFFF"/>
                </a:solidFill>
              </a:rPr>
              <a:t>Using machine learning to prioritise income-support outreach</a:t>
            </a:r>
            <a:endParaRPr lang="en-US" sz="1800"/>
          </a:p>
        </p:txBody>
      </p:sp>
      <p:sp>
        <p:nvSpPr>
          <p:cNvPr id="16" name="Shape 11"/>
          <p:cNvSpPr/>
          <p:nvPr/>
        </p:nvSpPr>
        <p:spPr>
          <a:xfrm>
            <a:off x="685800" y="4370832"/>
            <a:ext cx="7132320" cy="0"/>
          </a:xfrm>
          <a:prstGeom prst="line">
            <a:avLst/>
          </a:prstGeom>
          <a:noFill/>
          <a:ln w="15240">
            <a:solidFill>
              <a:srgbClr val="33425D"/>
            </a:solidFill>
            <a:prstDash val="solid"/>
          </a:ln>
        </p:spPr>
        <p:txBody>
          <a:bodyPr/>
          <a:lstStyle/>
          <a:p>
            <a:endParaRPr lang="nl-NL"/>
          </a:p>
        </p:txBody>
      </p:sp>
      <p:sp>
        <p:nvSpPr>
          <p:cNvPr id="17" name="Text 12"/>
          <p:cNvSpPr/>
          <p:nvPr/>
        </p:nvSpPr>
        <p:spPr>
          <a:xfrm>
            <a:off x="685800" y="4681728"/>
            <a:ext cx="5760720" cy="274320"/>
          </a:xfrm>
          <a:prstGeom prst="rect">
            <a:avLst/>
          </a:prstGeom>
          <a:noFill/>
          <a:ln/>
        </p:spPr>
        <p:txBody>
          <a:bodyPr wrap="square" lIns="0" tIns="0" rIns="0" bIns="0" rtlCol="0" anchor="ctr"/>
          <a:lstStyle/>
          <a:p>
            <a:pPr marL="0" indent="0">
              <a:buNone/>
            </a:pPr>
            <a:r>
              <a:rPr lang="en-US" sz="1150">
                <a:solidFill>
                  <a:srgbClr val="C7CFDE"/>
                </a:solidFill>
              </a:rPr>
              <a:t>Oguzhan Bolluk (24124907) · Ahmet Ünlu (24125822)</a:t>
            </a:r>
            <a:endParaRPr lang="en-US" sz="1150"/>
          </a:p>
        </p:txBody>
      </p:sp>
      <p:sp>
        <p:nvSpPr>
          <p:cNvPr id="18" name="Text 13"/>
          <p:cNvSpPr/>
          <p:nvPr/>
        </p:nvSpPr>
        <p:spPr>
          <a:xfrm>
            <a:off x="685800" y="5074920"/>
            <a:ext cx="5120640" cy="219456"/>
          </a:xfrm>
          <a:prstGeom prst="rect">
            <a:avLst/>
          </a:prstGeom>
          <a:noFill/>
          <a:ln/>
        </p:spPr>
        <p:txBody>
          <a:bodyPr wrap="square" lIns="0" tIns="0" rIns="0" bIns="0" rtlCol="0" anchor="ctr"/>
          <a:lstStyle/>
          <a:p>
            <a:pPr marL="0" indent="0">
              <a:buNone/>
            </a:pPr>
            <a:r>
              <a:rPr lang="en-US" sz="950">
                <a:solidFill>
                  <a:srgbClr val="7F8AA0"/>
                </a:solidFill>
              </a:rPr>
              <a:t>scikit-learn · UCI Adult Census Income</a:t>
            </a:r>
            <a:endParaRPr lang="en-US" sz="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84048"/>
            <a:ext cx="8138160" cy="457200"/>
          </a:xfrm>
          <a:prstGeom prst="rect">
            <a:avLst/>
          </a:prstGeom>
          <a:noFill/>
          <a:ln/>
        </p:spPr>
        <p:txBody>
          <a:bodyPr wrap="square" lIns="0" tIns="0" rIns="0" bIns="0" rtlCol="0" anchor="ctr"/>
          <a:lstStyle/>
          <a:p>
            <a:pPr marL="0" indent="0">
              <a:buNone/>
            </a:pPr>
            <a:r>
              <a:rPr lang="en-US" sz="2700" b="1">
                <a:solidFill>
                  <a:srgbClr val="0B1220"/>
                </a:solidFill>
                <a:latin typeface="Aptos Display" pitchFamily="34" charset="0"/>
                <a:ea typeface="Aptos Display" pitchFamily="34" charset="-122"/>
                <a:cs typeface="Aptos Display" pitchFamily="34" charset="-120"/>
              </a:rPr>
              <a:t>Specific user group &amp; scale</a:t>
            </a:r>
            <a:endParaRPr lang="en-US" sz="2700"/>
          </a:p>
        </p:txBody>
      </p:sp>
      <p:sp>
        <p:nvSpPr>
          <p:cNvPr id="3" name="Text 1"/>
          <p:cNvSpPr/>
          <p:nvPr/>
        </p:nvSpPr>
        <p:spPr>
          <a:xfrm>
            <a:off x="548640" y="859536"/>
            <a:ext cx="9966960" cy="256032"/>
          </a:xfrm>
          <a:prstGeom prst="rect">
            <a:avLst/>
          </a:prstGeom>
          <a:noFill/>
          <a:ln/>
        </p:spPr>
        <p:txBody>
          <a:bodyPr wrap="square" lIns="0" tIns="0" rIns="0" bIns="0" rtlCol="0" anchor="ctr"/>
          <a:lstStyle/>
          <a:p>
            <a:pPr marL="0" indent="0">
              <a:buNone/>
            </a:pPr>
            <a:r>
              <a:rPr lang="en-US" sz="1050">
                <a:solidFill>
                  <a:srgbClr val="667085"/>
                </a:solidFill>
              </a:rPr>
              <a:t>A focused outreach case with a measurable number of people who could be reached</a:t>
            </a:r>
            <a:endParaRPr lang="en-US" sz="1050"/>
          </a:p>
        </p:txBody>
      </p:sp>
      <p:sp>
        <p:nvSpPr>
          <p:cNvPr id="4" name="Shape 2"/>
          <p:cNvSpPr/>
          <p:nvPr/>
        </p:nvSpPr>
        <p:spPr>
          <a:xfrm>
            <a:off x="530352" y="1152144"/>
            <a:ext cx="11109960" cy="0"/>
          </a:xfrm>
          <a:prstGeom prst="line">
            <a:avLst/>
          </a:prstGeom>
          <a:noFill/>
          <a:ln w="12700">
            <a:solidFill>
              <a:srgbClr val="DFE4EC"/>
            </a:solidFill>
            <a:prstDash val="solid"/>
          </a:ln>
        </p:spPr>
        <p:txBody>
          <a:bodyPr/>
          <a:lstStyle/>
          <a:p>
            <a:endParaRPr lang="nl-NL"/>
          </a:p>
        </p:txBody>
      </p:sp>
      <p:sp>
        <p:nvSpPr>
          <p:cNvPr id="5" name="Shape 3"/>
          <p:cNvSpPr/>
          <p:nvPr/>
        </p:nvSpPr>
        <p:spPr>
          <a:xfrm>
            <a:off x="566928" y="1417320"/>
            <a:ext cx="3429000" cy="1051560"/>
          </a:xfrm>
          <a:prstGeom prst="roundRect">
            <a:avLst>
              <a:gd name="adj" fmla="val 10435"/>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6" name="Text 4"/>
          <p:cNvSpPr/>
          <p:nvPr/>
        </p:nvSpPr>
        <p:spPr>
          <a:xfrm>
            <a:off x="713232" y="1545336"/>
            <a:ext cx="3136392" cy="164592"/>
          </a:xfrm>
          <a:prstGeom prst="rect">
            <a:avLst/>
          </a:prstGeom>
          <a:noFill/>
          <a:ln/>
        </p:spPr>
        <p:txBody>
          <a:bodyPr wrap="square" lIns="0" tIns="0" rIns="0" bIns="0" rtlCol="0" anchor="ctr"/>
          <a:lstStyle/>
          <a:p>
            <a:pPr marL="0" indent="0">
              <a:buNone/>
            </a:pPr>
            <a:r>
              <a:rPr lang="en-US" sz="730" b="1" kern="0" spc="60">
                <a:solidFill>
                  <a:srgbClr val="667085"/>
                </a:solidFill>
              </a:rPr>
              <a:t>NATIONAL SCALE</a:t>
            </a:r>
            <a:endParaRPr lang="en-US" sz="730"/>
          </a:p>
        </p:txBody>
      </p:sp>
      <p:sp>
        <p:nvSpPr>
          <p:cNvPr id="7" name="Text 5"/>
          <p:cNvSpPr/>
          <p:nvPr/>
        </p:nvSpPr>
        <p:spPr>
          <a:xfrm>
            <a:off x="713232" y="1755648"/>
            <a:ext cx="3136392" cy="347472"/>
          </a:xfrm>
          <a:prstGeom prst="rect">
            <a:avLst/>
          </a:prstGeom>
          <a:noFill/>
          <a:ln/>
        </p:spPr>
        <p:txBody>
          <a:bodyPr wrap="square" lIns="0" tIns="0" rIns="0" bIns="0" rtlCol="0" anchor="ctr"/>
          <a:lstStyle/>
          <a:p>
            <a:pPr marL="0" indent="0">
              <a:buNone/>
            </a:pPr>
            <a:r>
              <a:rPr lang="en-US" sz="2400" b="1">
                <a:solidFill>
                  <a:srgbClr val="5B5FEF"/>
                </a:solidFill>
              </a:rPr>
              <a:t>679,000</a:t>
            </a:r>
            <a:endParaRPr lang="en-US" sz="2400"/>
          </a:p>
        </p:txBody>
      </p:sp>
      <p:sp>
        <p:nvSpPr>
          <p:cNvPr id="8" name="Text 6"/>
          <p:cNvSpPr/>
          <p:nvPr/>
        </p:nvSpPr>
        <p:spPr>
          <a:xfrm>
            <a:off x="713232" y="2167128"/>
            <a:ext cx="3154680" cy="155448"/>
          </a:xfrm>
          <a:prstGeom prst="rect">
            <a:avLst/>
          </a:prstGeom>
          <a:noFill/>
          <a:ln/>
        </p:spPr>
        <p:txBody>
          <a:bodyPr wrap="square" lIns="0" tIns="0" rIns="0" bIns="0" rtlCol="0" anchor="ctr"/>
          <a:lstStyle/>
          <a:p>
            <a:pPr marL="0" indent="0">
              <a:buNone/>
            </a:pPr>
            <a:r>
              <a:rPr lang="en-US" sz="750">
                <a:solidFill>
                  <a:srgbClr val="667085"/>
                </a:solidFill>
              </a:rPr>
              <a:t>people did not claim healthcare allowance in 2021</a:t>
            </a:r>
            <a:endParaRPr lang="en-US" sz="750"/>
          </a:p>
        </p:txBody>
      </p:sp>
      <p:sp>
        <p:nvSpPr>
          <p:cNvPr id="9" name="Shape 7"/>
          <p:cNvSpPr/>
          <p:nvPr/>
        </p:nvSpPr>
        <p:spPr>
          <a:xfrm>
            <a:off x="4379976" y="1417320"/>
            <a:ext cx="3429000" cy="1051560"/>
          </a:xfrm>
          <a:prstGeom prst="roundRect">
            <a:avLst>
              <a:gd name="adj" fmla="val 10435"/>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0" name="Text 8"/>
          <p:cNvSpPr/>
          <p:nvPr/>
        </p:nvSpPr>
        <p:spPr>
          <a:xfrm>
            <a:off x="4526280" y="1545336"/>
            <a:ext cx="3136392" cy="164592"/>
          </a:xfrm>
          <a:prstGeom prst="rect">
            <a:avLst/>
          </a:prstGeom>
          <a:noFill/>
          <a:ln/>
        </p:spPr>
        <p:txBody>
          <a:bodyPr wrap="square" lIns="0" tIns="0" rIns="0" bIns="0" rtlCol="0" anchor="ctr"/>
          <a:lstStyle/>
          <a:p>
            <a:pPr marL="0" indent="0">
              <a:buNone/>
            </a:pPr>
            <a:r>
              <a:rPr lang="en-US" sz="730" b="1" kern="0" spc="60">
                <a:solidFill>
                  <a:srgbClr val="667085"/>
                </a:solidFill>
              </a:rPr>
              <a:t>HIGH-RISK NICHE</a:t>
            </a:r>
            <a:endParaRPr lang="en-US" sz="730"/>
          </a:p>
        </p:txBody>
      </p:sp>
      <p:sp>
        <p:nvSpPr>
          <p:cNvPr id="11" name="Text 9"/>
          <p:cNvSpPr/>
          <p:nvPr/>
        </p:nvSpPr>
        <p:spPr>
          <a:xfrm>
            <a:off x="4526280" y="1755648"/>
            <a:ext cx="3136392" cy="347472"/>
          </a:xfrm>
          <a:prstGeom prst="rect">
            <a:avLst/>
          </a:prstGeom>
          <a:noFill/>
          <a:ln/>
        </p:spPr>
        <p:txBody>
          <a:bodyPr wrap="square" lIns="0" tIns="0" rIns="0" bIns="0" rtlCol="0" anchor="ctr"/>
          <a:lstStyle/>
          <a:p>
            <a:pPr marL="0" indent="0">
              <a:buNone/>
            </a:pPr>
            <a:r>
              <a:rPr lang="en-US" sz="2400" b="1">
                <a:solidFill>
                  <a:srgbClr val="F59E0B"/>
                </a:solidFill>
              </a:rPr>
              <a:t>&gt;25%</a:t>
            </a:r>
            <a:endParaRPr lang="en-US" sz="2400"/>
          </a:p>
        </p:txBody>
      </p:sp>
      <p:sp>
        <p:nvSpPr>
          <p:cNvPr id="12" name="Text 10"/>
          <p:cNvSpPr/>
          <p:nvPr/>
        </p:nvSpPr>
        <p:spPr>
          <a:xfrm>
            <a:off x="4526280" y="2167128"/>
            <a:ext cx="3154680" cy="155448"/>
          </a:xfrm>
          <a:prstGeom prst="rect">
            <a:avLst/>
          </a:prstGeom>
          <a:noFill/>
          <a:ln/>
        </p:spPr>
        <p:txBody>
          <a:bodyPr wrap="square" lIns="0" tIns="0" rIns="0" bIns="0" rtlCol="0" anchor="ctr"/>
          <a:lstStyle/>
          <a:p>
            <a:pPr marL="0" indent="0">
              <a:buNone/>
            </a:pPr>
            <a:r>
              <a:rPr lang="en-US" sz="750">
                <a:solidFill>
                  <a:srgbClr val="667085"/>
                </a:solidFill>
              </a:rPr>
              <a:t>of eligible self-employed people did not claim it</a:t>
            </a:r>
            <a:endParaRPr lang="en-US" sz="750"/>
          </a:p>
        </p:txBody>
      </p:sp>
      <p:sp>
        <p:nvSpPr>
          <p:cNvPr id="13" name="Shape 11"/>
          <p:cNvSpPr/>
          <p:nvPr/>
        </p:nvSpPr>
        <p:spPr>
          <a:xfrm>
            <a:off x="8193024" y="1417320"/>
            <a:ext cx="3429000" cy="1051560"/>
          </a:xfrm>
          <a:prstGeom prst="roundRect">
            <a:avLst>
              <a:gd name="adj" fmla="val 10435"/>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4" name="Text 12"/>
          <p:cNvSpPr/>
          <p:nvPr/>
        </p:nvSpPr>
        <p:spPr>
          <a:xfrm>
            <a:off x="8339328" y="1545336"/>
            <a:ext cx="3136392" cy="164592"/>
          </a:xfrm>
          <a:prstGeom prst="rect">
            <a:avLst/>
          </a:prstGeom>
          <a:noFill/>
          <a:ln/>
        </p:spPr>
        <p:txBody>
          <a:bodyPr wrap="square" lIns="0" tIns="0" rIns="0" bIns="0" rtlCol="0" anchor="ctr"/>
          <a:lstStyle/>
          <a:p>
            <a:pPr marL="0" indent="0">
              <a:buNone/>
            </a:pPr>
            <a:r>
              <a:rPr lang="en-US" sz="730" b="1" kern="0" spc="60">
                <a:solidFill>
                  <a:srgbClr val="667085"/>
                </a:solidFill>
              </a:rPr>
              <a:t>OUTREACH CAPACITY</a:t>
            </a:r>
            <a:endParaRPr lang="en-US" sz="730"/>
          </a:p>
        </p:txBody>
      </p:sp>
      <p:sp>
        <p:nvSpPr>
          <p:cNvPr id="15" name="Text 13"/>
          <p:cNvSpPr/>
          <p:nvPr/>
        </p:nvSpPr>
        <p:spPr>
          <a:xfrm>
            <a:off x="8339328" y="1755648"/>
            <a:ext cx="3136392" cy="347472"/>
          </a:xfrm>
          <a:prstGeom prst="rect">
            <a:avLst/>
          </a:prstGeom>
          <a:noFill/>
          <a:ln/>
        </p:spPr>
        <p:txBody>
          <a:bodyPr wrap="square" lIns="0" tIns="0" rIns="0" bIns="0" rtlCol="0" anchor="ctr"/>
          <a:lstStyle/>
          <a:p>
            <a:pPr marL="0" indent="0">
              <a:buNone/>
            </a:pPr>
            <a:r>
              <a:rPr lang="en-US" sz="2400" b="1">
                <a:solidFill>
                  <a:srgbClr val="12B8A6"/>
                </a:solidFill>
              </a:rPr>
              <a:t>500</a:t>
            </a:r>
            <a:endParaRPr lang="en-US" sz="2400"/>
          </a:p>
        </p:txBody>
      </p:sp>
      <p:sp>
        <p:nvSpPr>
          <p:cNvPr id="16" name="Text 14"/>
          <p:cNvSpPr/>
          <p:nvPr/>
        </p:nvSpPr>
        <p:spPr>
          <a:xfrm>
            <a:off x="8339328" y="2167128"/>
            <a:ext cx="3154680" cy="155448"/>
          </a:xfrm>
          <a:prstGeom prst="rect">
            <a:avLst/>
          </a:prstGeom>
          <a:noFill/>
          <a:ln/>
        </p:spPr>
        <p:txBody>
          <a:bodyPr wrap="square" lIns="0" tIns="0" rIns="0" bIns="0" rtlCol="0" anchor="ctr"/>
          <a:lstStyle/>
          <a:p>
            <a:pPr marL="0" indent="0">
              <a:buNone/>
            </a:pPr>
            <a:r>
              <a:rPr lang="en-US" sz="750">
                <a:solidFill>
                  <a:srgbClr val="667085"/>
                </a:solidFill>
              </a:rPr>
              <a:t>home visits available per year</a:t>
            </a:r>
            <a:endParaRPr lang="en-US" sz="750"/>
          </a:p>
        </p:txBody>
      </p:sp>
      <p:sp>
        <p:nvSpPr>
          <p:cNvPr id="17" name="Shape 15"/>
          <p:cNvSpPr/>
          <p:nvPr/>
        </p:nvSpPr>
        <p:spPr>
          <a:xfrm>
            <a:off x="566928" y="2770632"/>
            <a:ext cx="5010912" cy="3044952"/>
          </a:xfrm>
          <a:prstGeom prst="roundRect">
            <a:avLst>
              <a:gd name="adj" fmla="val 3604"/>
            </a:avLst>
          </a:prstGeom>
          <a:solidFill>
            <a:srgbClr val="0B1220"/>
          </a:solidFill>
          <a:ln w="12700">
            <a:solidFill>
              <a:srgbClr val="0B1220"/>
            </a:solidFill>
            <a:prstDash val="solid"/>
          </a:ln>
          <a:effectLst>
            <a:outerShdw blurRad="19050" dist="50800" dir="2700000" algn="bl" rotWithShape="0">
              <a:srgbClr val="BBC4D1">
                <a:alpha val="18000"/>
              </a:srgbClr>
            </a:outerShdw>
          </a:effectLst>
        </p:spPr>
        <p:txBody>
          <a:bodyPr/>
          <a:lstStyle/>
          <a:p>
            <a:endParaRPr lang="nl-NL"/>
          </a:p>
        </p:txBody>
      </p:sp>
      <p:sp>
        <p:nvSpPr>
          <p:cNvPr id="18" name="Shape 16"/>
          <p:cNvSpPr/>
          <p:nvPr/>
        </p:nvSpPr>
        <p:spPr>
          <a:xfrm>
            <a:off x="868680" y="3054096"/>
            <a:ext cx="1481328" cy="310896"/>
          </a:xfrm>
          <a:prstGeom prst="roundRect">
            <a:avLst>
              <a:gd name="adj" fmla="val 23529"/>
            </a:avLst>
          </a:prstGeom>
          <a:solidFill>
            <a:srgbClr val="243149"/>
          </a:solidFill>
          <a:ln w="12700">
            <a:solidFill>
              <a:srgbClr val="243149"/>
            </a:solidFill>
            <a:prstDash val="solid"/>
          </a:ln>
        </p:spPr>
        <p:txBody>
          <a:bodyPr/>
          <a:lstStyle/>
          <a:p>
            <a:endParaRPr lang="nl-NL"/>
          </a:p>
        </p:txBody>
      </p:sp>
      <p:sp>
        <p:nvSpPr>
          <p:cNvPr id="19" name="Text 17"/>
          <p:cNvSpPr/>
          <p:nvPr/>
        </p:nvSpPr>
        <p:spPr>
          <a:xfrm>
            <a:off x="941832" y="3104388"/>
            <a:ext cx="1335024" cy="182880"/>
          </a:xfrm>
          <a:prstGeom prst="rect">
            <a:avLst/>
          </a:prstGeom>
          <a:noFill/>
          <a:ln/>
        </p:spPr>
        <p:txBody>
          <a:bodyPr wrap="square" lIns="0" tIns="0" rIns="0" bIns="0" rtlCol="0" anchor="ctr"/>
          <a:lstStyle/>
          <a:p>
            <a:pPr marL="0" indent="0" algn="ctr">
              <a:buNone/>
            </a:pPr>
            <a:r>
              <a:rPr lang="en-US" sz="840" b="1">
                <a:solidFill>
                  <a:srgbClr val="C6CEFF"/>
                </a:solidFill>
              </a:rPr>
              <a:t>AFFECTED GROUP</a:t>
            </a:r>
            <a:endParaRPr lang="en-US" sz="840"/>
          </a:p>
        </p:txBody>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6112" y="3611880"/>
            <a:ext cx="475488" cy="475488"/>
          </a:xfrm>
          <a:prstGeom prst="rect">
            <a:avLst/>
          </a:prstGeom>
        </p:spPr>
      </p:pic>
      <p:sp>
        <p:nvSpPr>
          <p:cNvPr id="21" name="Text 18"/>
          <p:cNvSpPr/>
          <p:nvPr/>
        </p:nvSpPr>
        <p:spPr>
          <a:xfrm>
            <a:off x="1517904" y="3602736"/>
            <a:ext cx="3291840" cy="310896"/>
          </a:xfrm>
          <a:prstGeom prst="rect">
            <a:avLst/>
          </a:prstGeom>
          <a:noFill/>
          <a:ln/>
        </p:spPr>
        <p:txBody>
          <a:bodyPr wrap="square" lIns="0" tIns="0" rIns="0" bIns="0" rtlCol="0" anchor="ctr"/>
          <a:lstStyle/>
          <a:p>
            <a:pPr marL="0" indent="0">
              <a:buNone/>
            </a:pPr>
            <a:r>
              <a:rPr lang="en-US" sz="2200" b="1">
                <a:solidFill>
                  <a:srgbClr val="FFFFFF"/>
                </a:solidFill>
              </a:rPr>
              <a:t>Self-employed adults</a:t>
            </a:r>
            <a:endParaRPr lang="en-US" sz="2200"/>
          </a:p>
        </p:txBody>
      </p:sp>
      <p:sp>
        <p:nvSpPr>
          <p:cNvPr id="22" name="Text 19"/>
          <p:cNvSpPr/>
          <p:nvPr/>
        </p:nvSpPr>
        <p:spPr>
          <a:xfrm>
            <a:off x="877824" y="4133088"/>
            <a:ext cx="4160520" cy="585216"/>
          </a:xfrm>
          <a:prstGeom prst="rect">
            <a:avLst/>
          </a:prstGeom>
          <a:noFill/>
          <a:ln/>
        </p:spPr>
        <p:txBody>
          <a:bodyPr wrap="square" lIns="0" tIns="0" rIns="0" bIns="0" rtlCol="0" anchor="ctr"/>
          <a:lstStyle/>
          <a:p>
            <a:pPr marL="0" indent="0">
              <a:buNone/>
            </a:pPr>
            <a:r>
              <a:rPr lang="en-US" sz="1420">
                <a:solidFill>
                  <a:srgbClr val="E8ECF4"/>
                </a:solidFill>
              </a:rPr>
              <a:t>who are entitled to healthcare allowance but may not claim it</a:t>
            </a:r>
            <a:endParaRPr lang="en-US" sz="1420"/>
          </a:p>
        </p:txBody>
      </p:sp>
      <p:sp>
        <p:nvSpPr>
          <p:cNvPr id="23" name="Shape 20"/>
          <p:cNvSpPr/>
          <p:nvPr/>
        </p:nvSpPr>
        <p:spPr>
          <a:xfrm>
            <a:off x="877824" y="4910328"/>
            <a:ext cx="4160520" cy="0"/>
          </a:xfrm>
          <a:prstGeom prst="line">
            <a:avLst/>
          </a:prstGeom>
          <a:noFill/>
          <a:ln w="12700">
            <a:solidFill>
              <a:srgbClr val="34435D"/>
            </a:solidFill>
            <a:prstDash val="solid"/>
          </a:ln>
        </p:spPr>
        <p:txBody>
          <a:bodyPr/>
          <a:lstStyle/>
          <a:p>
            <a:endParaRPr lang="nl-NL"/>
          </a:p>
        </p:txBody>
      </p:sp>
      <p:sp>
        <p:nvSpPr>
          <p:cNvPr id="24" name="Text 21"/>
          <p:cNvSpPr/>
          <p:nvPr/>
        </p:nvSpPr>
        <p:spPr>
          <a:xfrm>
            <a:off x="877824" y="5120640"/>
            <a:ext cx="1143000" cy="182880"/>
          </a:xfrm>
          <a:prstGeom prst="rect">
            <a:avLst/>
          </a:prstGeom>
          <a:noFill/>
          <a:ln/>
        </p:spPr>
        <p:txBody>
          <a:bodyPr wrap="square" lIns="0" tIns="0" rIns="0" bIns="0" rtlCol="0" anchor="ctr"/>
          <a:lstStyle/>
          <a:p>
            <a:pPr marL="0" indent="0">
              <a:buNone/>
            </a:pPr>
            <a:r>
              <a:rPr lang="en-US" sz="900" b="1">
                <a:solidFill>
                  <a:srgbClr val="7F8AA0"/>
                </a:solidFill>
              </a:rPr>
              <a:t>Why this niche?</a:t>
            </a:r>
            <a:endParaRPr lang="en-US" sz="900"/>
          </a:p>
        </p:txBody>
      </p:sp>
      <p:sp>
        <p:nvSpPr>
          <p:cNvPr id="25" name="Text 22"/>
          <p:cNvSpPr/>
          <p:nvPr/>
        </p:nvSpPr>
        <p:spPr>
          <a:xfrm>
            <a:off x="877824" y="5367528"/>
            <a:ext cx="4224528" cy="310896"/>
          </a:xfrm>
          <a:prstGeom prst="rect">
            <a:avLst/>
          </a:prstGeom>
          <a:noFill/>
          <a:ln/>
        </p:spPr>
        <p:txBody>
          <a:bodyPr wrap="square" lIns="0" tIns="0" rIns="0" bIns="0" rtlCol="0" anchor="ctr"/>
          <a:lstStyle/>
          <a:p>
            <a:pPr marL="0" indent="0">
              <a:buNone/>
            </a:pPr>
            <a:r>
              <a:rPr lang="en-US" sz="980">
                <a:solidFill>
                  <a:srgbClr val="FFFFFF"/>
                </a:solidFill>
              </a:rPr>
              <a:t>CPB found non-use is especially high among self-employed people. This gives the outreach team a concrete group to prioritise instead of “all low-income people”.</a:t>
            </a:r>
            <a:endParaRPr lang="en-US" sz="980"/>
          </a:p>
        </p:txBody>
      </p:sp>
      <p:sp>
        <p:nvSpPr>
          <p:cNvPr id="26" name="Shape 23"/>
          <p:cNvSpPr/>
          <p:nvPr/>
        </p:nvSpPr>
        <p:spPr>
          <a:xfrm>
            <a:off x="5824728" y="2770632"/>
            <a:ext cx="5788152" cy="3044952"/>
          </a:xfrm>
          <a:prstGeom prst="roundRect">
            <a:avLst>
              <a:gd name="adj" fmla="val 3604"/>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27" name="Shape 24"/>
          <p:cNvSpPr/>
          <p:nvPr/>
        </p:nvSpPr>
        <p:spPr>
          <a:xfrm>
            <a:off x="6126480" y="3054096"/>
            <a:ext cx="1170432" cy="310896"/>
          </a:xfrm>
          <a:prstGeom prst="roundRect">
            <a:avLst>
              <a:gd name="adj" fmla="val 23529"/>
            </a:avLst>
          </a:prstGeom>
          <a:solidFill>
            <a:srgbClr val="EAFBF7"/>
          </a:solidFill>
          <a:ln w="12700">
            <a:solidFill>
              <a:srgbClr val="EAFBF7"/>
            </a:solidFill>
            <a:prstDash val="solid"/>
          </a:ln>
        </p:spPr>
        <p:txBody>
          <a:bodyPr/>
          <a:lstStyle/>
          <a:p>
            <a:endParaRPr lang="nl-NL"/>
          </a:p>
        </p:txBody>
      </p:sp>
      <p:sp>
        <p:nvSpPr>
          <p:cNvPr id="28" name="Text 25"/>
          <p:cNvSpPr/>
          <p:nvPr/>
        </p:nvSpPr>
        <p:spPr>
          <a:xfrm>
            <a:off x="6199632" y="3104388"/>
            <a:ext cx="1024128" cy="182880"/>
          </a:xfrm>
          <a:prstGeom prst="rect">
            <a:avLst/>
          </a:prstGeom>
          <a:noFill/>
          <a:ln/>
        </p:spPr>
        <p:txBody>
          <a:bodyPr wrap="square" lIns="0" tIns="0" rIns="0" bIns="0" rtlCol="0" anchor="ctr"/>
          <a:lstStyle/>
          <a:p>
            <a:pPr marL="0" indent="0" algn="ctr">
              <a:buNone/>
            </a:pPr>
            <a:r>
              <a:rPr lang="en-US" sz="840" b="1">
                <a:solidFill>
                  <a:srgbClr val="12B8A6"/>
                </a:solidFill>
              </a:rPr>
              <a:t>DIRECT USER</a:t>
            </a:r>
            <a:endParaRPr lang="en-US" sz="840"/>
          </a:p>
        </p:txBody>
      </p:sp>
      <p:pic>
        <p:nvPicPr>
          <p:cNvPr id="2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44768" y="3602736"/>
            <a:ext cx="475488" cy="475488"/>
          </a:xfrm>
          <a:prstGeom prst="rect">
            <a:avLst/>
          </a:prstGeom>
        </p:spPr>
      </p:pic>
      <p:sp>
        <p:nvSpPr>
          <p:cNvPr id="30" name="Text 26"/>
          <p:cNvSpPr/>
          <p:nvPr/>
        </p:nvSpPr>
        <p:spPr>
          <a:xfrm>
            <a:off x="6766560" y="3602736"/>
            <a:ext cx="4206240" cy="310896"/>
          </a:xfrm>
          <a:prstGeom prst="rect">
            <a:avLst/>
          </a:prstGeom>
          <a:noFill/>
          <a:ln/>
        </p:spPr>
        <p:txBody>
          <a:bodyPr wrap="square" lIns="0" tIns="0" rIns="0" bIns="0" rtlCol="0" anchor="ctr"/>
          <a:lstStyle/>
          <a:p>
            <a:pPr marL="0" indent="0">
              <a:buNone/>
            </a:pPr>
            <a:r>
              <a:rPr lang="en-US" sz="2050" b="1">
                <a:solidFill>
                  <a:srgbClr val="0B1220"/>
                </a:solidFill>
              </a:rPr>
              <a:t>Municipal welfare outreach team</a:t>
            </a:r>
            <a:endParaRPr lang="en-US" sz="2050"/>
          </a:p>
        </p:txBody>
      </p:sp>
      <p:sp>
        <p:nvSpPr>
          <p:cNvPr id="31" name="Text 27"/>
          <p:cNvSpPr/>
          <p:nvPr/>
        </p:nvSpPr>
        <p:spPr>
          <a:xfrm>
            <a:off x="6144768" y="4096512"/>
            <a:ext cx="4919472" cy="548640"/>
          </a:xfrm>
          <a:prstGeom prst="rect">
            <a:avLst/>
          </a:prstGeom>
          <a:noFill/>
          <a:ln/>
        </p:spPr>
        <p:txBody>
          <a:bodyPr wrap="square" lIns="0" tIns="0" rIns="0" bIns="0" rtlCol="0" anchor="ctr"/>
          <a:lstStyle/>
          <a:p>
            <a:pPr marL="0" indent="0">
              <a:buNone/>
            </a:pPr>
            <a:r>
              <a:rPr lang="en-US" sz="1220">
                <a:solidFill>
                  <a:srgbClr val="667085"/>
                </a:solidFill>
              </a:rPr>
              <a:t>Uses the model to rank likely low-income cases before deciding who receives one of the 500 annual home visits.</a:t>
            </a:r>
            <a:endParaRPr lang="en-US" sz="1220"/>
          </a:p>
        </p:txBody>
      </p:sp>
      <p:sp>
        <p:nvSpPr>
          <p:cNvPr id="32" name="Shape 28"/>
          <p:cNvSpPr/>
          <p:nvPr/>
        </p:nvSpPr>
        <p:spPr>
          <a:xfrm>
            <a:off x="6217920" y="4791456"/>
            <a:ext cx="640080" cy="640080"/>
          </a:xfrm>
          <a:prstGeom prst="ellipse">
            <a:avLst/>
          </a:prstGeom>
          <a:solidFill>
            <a:srgbClr val="F0F3F7"/>
          </a:solidFill>
          <a:ln w="12700">
            <a:solidFill>
              <a:srgbClr val="F0F3F7"/>
            </a:solidFill>
            <a:prstDash val="solid"/>
          </a:ln>
        </p:spPr>
        <p:txBody>
          <a:bodyPr/>
          <a:lstStyle/>
          <a:p>
            <a:endParaRPr lang="nl-NL"/>
          </a:p>
        </p:txBody>
      </p:sp>
      <p:pic>
        <p:nvPicPr>
          <p:cNvPr id="3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3368" y="4946904"/>
            <a:ext cx="329184" cy="329184"/>
          </a:xfrm>
          <a:prstGeom prst="rect">
            <a:avLst/>
          </a:prstGeom>
        </p:spPr>
      </p:pic>
      <p:sp>
        <p:nvSpPr>
          <p:cNvPr id="34" name="Text 29"/>
          <p:cNvSpPr/>
          <p:nvPr/>
        </p:nvSpPr>
        <p:spPr>
          <a:xfrm>
            <a:off x="5998464" y="5550408"/>
            <a:ext cx="1078992" cy="182880"/>
          </a:xfrm>
          <a:prstGeom prst="rect">
            <a:avLst/>
          </a:prstGeom>
          <a:noFill/>
          <a:ln/>
        </p:spPr>
        <p:txBody>
          <a:bodyPr wrap="square" lIns="0" tIns="0" rIns="0" bIns="0" rtlCol="0" anchor="ctr"/>
          <a:lstStyle/>
          <a:p>
            <a:pPr marL="0" indent="0" algn="ctr">
              <a:buNone/>
            </a:pPr>
            <a:r>
              <a:rPr lang="en-US" sz="940" b="1">
                <a:solidFill>
                  <a:srgbClr val="182230"/>
                </a:solidFill>
              </a:rPr>
              <a:t>Target group</a:t>
            </a:r>
            <a:endParaRPr lang="en-US" sz="940"/>
          </a:p>
        </p:txBody>
      </p:sp>
      <p:sp>
        <p:nvSpPr>
          <p:cNvPr id="35" name="Text 30"/>
          <p:cNvSpPr/>
          <p:nvPr/>
        </p:nvSpPr>
        <p:spPr>
          <a:xfrm>
            <a:off x="5824728" y="5769864"/>
            <a:ext cx="1444752" cy="320040"/>
          </a:xfrm>
          <a:prstGeom prst="rect">
            <a:avLst/>
          </a:prstGeom>
          <a:noFill/>
          <a:ln/>
        </p:spPr>
        <p:txBody>
          <a:bodyPr wrap="square" lIns="0" tIns="0" rIns="0" bIns="0" rtlCol="0" anchor="ctr"/>
          <a:lstStyle/>
          <a:p>
            <a:pPr marL="0" indent="0" algn="ctr">
              <a:buNone/>
            </a:pPr>
            <a:r>
              <a:rPr lang="en-US" sz="760">
                <a:solidFill>
                  <a:srgbClr val="667085"/>
                </a:solidFill>
              </a:rPr>
              <a:t>Self-employed cases</a:t>
            </a:r>
            <a:endParaRPr lang="en-US" sz="760"/>
          </a:p>
        </p:txBody>
      </p:sp>
      <p:pic>
        <p:nvPicPr>
          <p:cNvPr id="3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87768" y="4965192"/>
            <a:ext cx="246888" cy="246888"/>
          </a:xfrm>
          <a:prstGeom prst="rect">
            <a:avLst/>
          </a:prstGeom>
        </p:spPr>
      </p:pic>
      <p:sp>
        <p:nvSpPr>
          <p:cNvPr id="37" name="Shape 31"/>
          <p:cNvSpPr/>
          <p:nvPr/>
        </p:nvSpPr>
        <p:spPr>
          <a:xfrm>
            <a:off x="7936992" y="4791456"/>
            <a:ext cx="640080" cy="640080"/>
          </a:xfrm>
          <a:prstGeom prst="ellipse">
            <a:avLst/>
          </a:prstGeom>
          <a:solidFill>
            <a:srgbClr val="EEF0FF"/>
          </a:solidFill>
          <a:ln w="12700">
            <a:solidFill>
              <a:srgbClr val="EEF0FF"/>
            </a:solidFill>
            <a:prstDash val="solid"/>
          </a:ln>
        </p:spPr>
        <p:txBody>
          <a:bodyPr/>
          <a:lstStyle/>
          <a:p>
            <a:endParaRPr lang="nl-NL"/>
          </a:p>
        </p:txBody>
      </p:sp>
      <p:pic>
        <p:nvPicPr>
          <p:cNvPr id="3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92440" y="4946904"/>
            <a:ext cx="329184" cy="329184"/>
          </a:xfrm>
          <a:prstGeom prst="rect">
            <a:avLst/>
          </a:prstGeom>
        </p:spPr>
      </p:pic>
      <p:sp>
        <p:nvSpPr>
          <p:cNvPr id="39" name="Text 32"/>
          <p:cNvSpPr/>
          <p:nvPr/>
        </p:nvSpPr>
        <p:spPr>
          <a:xfrm>
            <a:off x="7717536" y="5550408"/>
            <a:ext cx="1078992" cy="182880"/>
          </a:xfrm>
          <a:prstGeom prst="rect">
            <a:avLst/>
          </a:prstGeom>
          <a:noFill/>
          <a:ln/>
        </p:spPr>
        <p:txBody>
          <a:bodyPr wrap="square" lIns="0" tIns="0" rIns="0" bIns="0" rtlCol="0" anchor="ctr"/>
          <a:lstStyle/>
          <a:p>
            <a:pPr marL="0" indent="0" algn="ctr">
              <a:buNone/>
            </a:pPr>
            <a:r>
              <a:rPr lang="en-US" sz="940" b="1">
                <a:solidFill>
                  <a:srgbClr val="182230"/>
                </a:solidFill>
              </a:rPr>
              <a:t>Prediction</a:t>
            </a:r>
            <a:endParaRPr lang="en-US" sz="940"/>
          </a:p>
        </p:txBody>
      </p:sp>
      <p:sp>
        <p:nvSpPr>
          <p:cNvPr id="40" name="Text 33"/>
          <p:cNvSpPr/>
          <p:nvPr/>
        </p:nvSpPr>
        <p:spPr>
          <a:xfrm>
            <a:off x="7543800" y="5769864"/>
            <a:ext cx="1444752" cy="320040"/>
          </a:xfrm>
          <a:prstGeom prst="rect">
            <a:avLst/>
          </a:prstGeom>
          <a:noFill/>
          <a:ln/>
        </p:spPr>
        <p:txBody>
          <a:bodyPr wrap="square" lIns="0" tIns="0" rIns="0" bIns="0" rtlCol="0" anchor="ctr"/>
          <a:lstStyle/>
          <a:p>
            <a:pPr marL="0" indent="0" algn="ctr">
              <a:buNone/>
            </a:pPr>
            <a:r>
              <a:rPr lang="en-US" sz="760">
                <a:solidFill>
                  <a:srgbClr val="667085"/>
                </a:solidFill>
              </a:rPr>
              <a:t>Low-income probability</a:t>
            </a:r>
            <a:endParaRPr lang="en-US" sz="760"/>
          </a:p>
        </p:txBody>
      </p:sp>
      <p:pic>
        <p:nvPicPr>
          <p:cNvPr id="41"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06840" y="4965192"/>
            <a:ext cx="246888" cy="246888"/>
          </a:xfrm>
          <a:prstGeom prst="rect">
            <a:avLst/>
          </a:prstGeom>
        </p:spPr>
      </p:pic>
      <p:sp>
        <p:nvSpPr>
          <p:cNvPr id="42" name="Shape 34"/>
          <p:cNvSpPr/>
          <p:nvPr/>
        </p:nvSpPr>
        <p:spPr>
          <a:xfrm>
            <a:off x="9656064" y="4791456"/>
            <a:ext cx="640080" cy="640080"/>
          </a:xfrm>
          <a:prstGeom prst="ellipse">
            <a:avLst/>
          </a:prstGeom>
          <a:solidFill>
            <a:srgbClr val="EAFBF7"/>
          </a:solidFill>
          <a:ln w="12700">
            <a:solidFill>
              <a:srgbClr val="EAFBF7"/>
            </a:solidFill>
            <a:prstDash val="solid"/>
          </a:ln>
        </p:spPr>
        <p:txBody>
          <a:bodyPr/>
          <a:lstStyle/>
          <a:p>
            <a:endParaRPr lang="nl-NL"/>
          </a:p>
        </p:txBody>
      </p:sp>
      <p:pic>
        <p:nvPicPr>
          <p:cNvPr id="43"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11512" y="4946904"/>
            <a:ext cx="329184" cy="329184"/>
          </a:xfrm>
          <a:prstGeom prst="rect">
            <a:avLst/>
          </a:prstGeom>
        </p:spPr>
      </p:pic>
      <p:sp>
        <p:nvSpPr>
          <p:cNvPr id="44" name="Text 35"/>
          <p:cNvSpPr/>
          <p:nvPr/>
        </p:nvSpPr>
        <p:spPr>
          <a:xfrm>
            <a:off x="9436608" y="5550408"/>
            <a:ext cx="1078992" cy="182880"/>
          </a:xfrm>
          <a:prstGeom prst="rect">
            <a:avLst/>
          </a:prstGeom>
          <a:noFill/>
          <a:ln/>
        </p:spPr>
        <p:txBody>
          <a:bodyPr wrap="square" lIns="0" tIns="0" rIns="0" bIns="0" rtlCol="0" anchor="ctr"/>
          <a:lstStyle/>
          <a:p>
            <a:pPr marL="0" indent="0" algn="ctr">
              <a:buNone/>
            </a:pPr>
            <a:r>
              <a:rPr lang="en-US" sz="940" b="1">
                <a:solidFill>
                  <a:srgbClr val="182230"/>
                </a:solidFill>
              </a:rPr>
              <a:t>Action</a:t>
            </a:r>
            <a:endParaRPr lang="en-US" sz="940"/>
          </a:p>
        </p:txBody>
      </p:sp>
      <p:sp>
        <p:nvSpPr>
          <p:cNvPr id="45" name="Text 36"/>
          <p:cNvSpPr/>
          <p:nvPr/>
        </p:nvSpPr>
        <p:spPr>
          <a:xfrm>
            <a:off x="9262872" y="5769864"/>
            <a:ext cx="1444752" cy="320040"/>
          </a:xfrm>
          <a:prstGeom prst="rect">
            <a:avLst/>
          </a:prstGeom>
          <a:noFill/>
          <a:ln/>
        </p:spPr>
        <p:txBody>
          <a:bodyPr wrap="square" lIns="0" tIns="0" rIns="0" bIns="0" rtlCol="0" anchor="ctr"/>
          <a:lstStyle/>
          <a:p>
            <a:pPr marL="0" indent="0" algn="ctr">
              <a:buNone/>
            </a:pPr>
            <a:r>
              <a:rPr lang="en-US" sz="760">
                <a:solidFill>
                  <a:srgbClr val="667085"/>
                </a:solidFill>
              </a:rPr>
              <a:t>Up to 500 visits / year</a:t>
            </a:r>
            <a:endParaRPr lang="en-US" sz="760"/>
          </a:p>
        </p:txBody>
      </p:sp>
      <p:sp>
        <p:nvSpPr>
          <p:cNvPr id="46" name="Text 37"/>
          <p:cNvSpPr/>
          <p:nvPr/>
        </p:nvSpPr>
        <p:spPr>
          <a:xfrm>
            <a:off x="566928" y="6336792"/>
            <a:ext cx="10561320" cy="137160"/>
          </a:xfrm>
          <a:prstGeom prst="rect">
            <a:avLst/>
          </a:prstGeom>
          <a:noFill/>
          <a:ln/>
        </p:spPr>
        <p:txBody>
          <a:bodyPr wrap="square" lIns="0" tIns="0" rIns="0" bIns="0" rtlCol="0" anchor="ctr"/>
          <a:lstStyle/>
          <a:p>
            <a:pPr marL="0" indent="0">
              <a:buNone/>
            </a:pPr>
            <a:r>
              <a:rPr lang="en-US" sz="650">
                <a:solidFill>
                  <a:srgbClr val="8A94A6"/>
                </a:solidFill>
              </a:rPr>
              <a:t>Sources: CPB (2025), Onbenut recht; 2021 figures: 679,000 people missed healthcare allowance and &gt;25% of eligible self-employed people did not claim it. Prototype must be retrained on current Dutch data before real deployment.</a:t>
            </a:r>
            <a:endParaRPr lang="en-US" sz="650"/>
          </a:p>
        </p:txBody>
      </p:sp>
      <p:sp>
        <p:nvSpPr>
          <p:cNvPr id="47"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84048"/>
            <a:ext cx="8138160" cy="457200"/>
          </a:xfrm>
          <a:prstGeom prst="rect">
            <a:avLst/>
          </a:prstGeom>
          <a:noFill/>
          <a:ln/>
        </p:spPr>
        <p:txBody>
          <a:bodyPr wrap="square" lIns="0" tIns="0" rIns="0" bIns="0" rtlCol="0" anchor="ctr"/>
          <a:lstStyle/>
          <a:p>
            <a:pPr marL="0" indent="0">
              <a:buNone/>
            </a:pPr>
            <a:r>
              <a:rPr lang="en-US" sz="2700" b="1">
                <a:solidFill>
                  <a:srgbClr val="0B1220"/>
                </a:solidFill>
                <a:latin typeface="Aptos Display" pitchFamily="34" charset="0"/>
                <a:ea typeface="Aptos Display" pitchFamily="34" charset="-122"/>
                <a:cs typeface="Aptos Display" pitchFamily="34" charset="-120"/>
              </a:rPr>
              <a:t>Data &amp; pipeline</a:t>
            </a:r>
            <a:endParaRPr lang="en-US" sz="2700"/>
          </a:p>
        </p:txBody>
      </p:sp>
      <p:sp>
        <p:nvSpPr>
          <p:cNvPr id="3" name="Text 1"/>
          <p:cNvSpPr/>
          <p:nvPr/>
        </p:nvSpPr>
        <p:spPr>
          <a:xfrm>
            <a:off x="548640" y="859536"/>
            <a:ext cx="9966960" cy="256032"/>
          </a:xfrm>
          <a:prstGeom prst="rect">
            <a:avLst/>
          </a:prstGeom>
          <a:noFill/>
          <a:ln/>
        </p:spPr>
        <p:txBody>
          <a:bodyPr wrap="square" lIns="0" tIns="0" rIns="0" bIns="0" rtlCol="0" anchor="ctr"/>
          <a:lstStyle/>
          <a:p>
            <a:pPr marL="0" indent="0">
              <a:buNone/>
            </a:pPr>
            <a:r>
              <a:rPr lang="en-US" sz="1050">
                <a:solidFill>
                  <a:srgbClr val="667085"/>
                </a:solidFill>
              </a:rPr>
              <a:t>From raw census data to a reproducible model comparison</a:t>
            </a:r>
            <a:endParaRPr lang="en-US" sz="1050"/>
          </a:p>
        </p:txBody>
      </p:sp>
      <p:sp>
        <p:nvSpPr>
          <p:cNvPr id="4" name="Shape 2"/>
          <p:cNvSpPr/>
          <p:nvPr/>
        </p:nvSpPr>
        <p:spPr>
          <a:xfrm>
            <a:off x="530352" y="1152144"/>
            <a:ext cx="11109960" cy="0"/>
          </a:xfrm>
          <a:prstGeom prst="line">
            <a:avLst/>
          </a:prstGeom>
          <a:noFill/>
          <a:ln w="12700">
            <a:solidFill>
              <a:srgbClr val="DFE4EC"/>
            </a:solidFill>
            <a:prstDash val="solid"/>
          </a:ln>
        </p:spPr>
        <p:txBody>
          <a:bodyPr/>
          <a:lstStyle/>
          <a:p>
            <a:endParaRPr lang="nl-NL"/>
          </a:p>
        </p:txBody>
      </p:sp>
      <p:sp>
        <p:nvSpPr>
          <p:cNvPr id="5" name="Shape 3"/>
          <p:cNvSpPr/>
          <p:nvPr/>
        </p:nvSpPr>
        <p:spPr>
          <a:xfrm>
            <a:off x="566928" y="1426464"/>
            <a:ext cx="2514600" cy="987552"/>
          </a:xfrm>
          <a:prstGeom prst="roundRect">
            <a:avLst>
              <a:gd name="adj" fmla="val 11111"/>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6" name="Text 4"/>
          <p:cNvSpPr/>
          <p:nvPr/>
        </p:nvSpPr>
        <p:spPr>
          <a:xfrm>
            <a:off x="731520" y="1618488"/>
            <a:ext cx="2148840" cy="347472"/>
          </a:xfrm>
          <a:prstGeom prst="rect">
            <a:avLst/>
          </a:prstGeom>
          <a:noFill/>
          <a:ln/>
        </p:spPr>
        <p:txBody>
          <a:bodyPr wrap="square" lIns="0" tIns="0" rIns="0" bIns="0" rtlCol="0" anchor="ctr"/>
          <a:lstStyle/>
          <a:p>
            <a:pPr marL="0" indent="0" algn="ctr">
              <a:buNone/>
            </a:pPr>
            <a:r>
              <a:rPr lang="en-US" sz="2400" b="1">
                <a:solidFill>
                  <a:srgbClr val="0B1220"/>
                </a:solidFill>
              </a:rPr>
              <a:t>32,561</a:t>
            </a:r>
            <a:endParaRPr lang="en-US" sz="2400"/>
          </a:p>
        </p:txBody>
      </p:sp>
      <p:sp>
        <p:nvSpPr>
          <p:cNvPr id="7" name="Text 5"/>
          <p:cNvSpPr/>
          <p:nvPr/>
        </p:nvSpPr>
        <p:spPr>
          <a:xfrm>
            <a:off x="731520" y="2029968"/>
            <a:ext cx="2148840" cy="164592"/>
          </a:xfrm>
          <a:prstGeom prst="rect">
            <a:avLst/>
          </a:prstGeom>
          <a:noFill/>
          <a:ln/>
        </p:spPr>
        <p:txBody>
          <a:bodyPr wrap="square" lIns="0" tIns="0" rIns="0" bIns="0" rtlCol="0" anchor="ctr"/>
          <a:lstStyle/>
          <a:p>
            <a:pPr marL="0" indent="0" algn="ctr">
              <a:buNone/>
            </a:pPr>
            <a:r>
              <a:rPr lang="en-US" sz="780" b="1" kern="0" spc="60">
                <a:solidFill>
                  <a:srgbClr val="667085"/>
                </a:solidFill>
              </a:rPr>
              <a:t>ROWS</a:t>
            </a:r>
            <a:endParaRPr lang="en-US" sz="780"/>
          </a:p>
        </p:txBody>
      </p:sp>
      <p:sp>
        <p:nvSpPr>
          <p:cNvPr id="8" name="Shape 6"/>
          <p:cNvSpPr/>
          <p:nvPr/>
        </p:nvSpPr>
        <p:spPr>
          <a:xfrm>
            <a:off x="3383280" y="1426464"/>
            <a:ext cx="2514600" cy="987552"/>
          </a:xfrm>
          <a:prstGeom prst="roundRect">
            <a:avLst>
              <a:gd name="adj" fmla="val 11111"/>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9" name="Text 7"/>
          <p:cNvSpPr/>
          <p:nvPr/>
        </p:nvSpPr>
        <p:spPr>
          <a:xfrm>
            <a:off x="3547872" y="1618488"/>
            <a:ext cx="2148840" cy="347472"/>
          </a:xfrm>
          <a:prstGeom prst="rect">
            <a:avLst/>
          </a:prstGeom>
          <a:noFill/>
          <a:ln/>
        </p:spPr>
        <p:txBody>
          <a:bodyPr wrap="square" lIns="0" tIns="0" rIns="0" bIns="0" rtlCol="0" anchor="ctr"/>
          <a:lstStyle/>
          <a:p>
            <a:pPr marL="0" indent="0" algn="ctr">
              <a:buNone/>
            </a:pPr>
            <a:r>
              <a:rPr lang="en-US" sz="2400" b="1">
                <a:solidFill>
                  <a:srgbClr val="0B1220"/>
                </a:solidFill>
              </a:rPr>
              <a:t>15</a:t>
            </a:r>
            <a:endParaRPr lang="en-US" sz="2400"/>
          </a:p>
        </p:txBody>
      </p:sp>
      <p:sp>
        <p:nvSpPr>
          <p:cNvPr id="10" name="Text 8"/>
          <p:cNvSpPr/>
          <p:nvPr/>
        </p:nvSpPr>
        <p:spPr>
          <a:xfrm>
            <a:off x="3547872" y="2029968"/>
            <a:ext cx="2148840" cy="164592"/>
          </a:xfrm>
          <a:prstGeom prst="rect">
            <a:avLst/>
          </a:prstGeom>
          <a:noFill/>
          <a:ln/>
        </p:spPr>
        <p:txBody>
          <a:bodyPr wrap="square" lIns="0" tIns="0" rIns="0" bIns="0" rtlCol="0" anchor="ctr"/>
          <a:lstStyle/>
          <a:p>
            <a:pPr marL="0" indent="0" algn="ctr">
              <a:buNone/>
            </a:pPr>
            <a:r>
              <a:rPr lang="en-US" sz="780" b="1" kern="0" spc="60">
                <a:solidFill>
                  <a:srgbClr val="667085"/>
                </a:solidFill>
              </a:rPr>
              <a:t>COLUMNS</a:t>
            </a:r>
            <a:endParaRPr lang="en-US" sz="780"/>
          </a:p>
        </p:txBody>
      </p:sp>
      <p:sp>
        <p:nvSpPr>
          <p:cNvPr id="11" name="Shape 9"/>
          <p:cNvSpPr/>
          <p:nvPr/>
        </p:nvSpPr>
        <p:spPr>
          <a:xfrm>
            <a:off x="6199632" y="1426464"/>
            <a:ext cx="2514600" cy="987552"/>
          </a:xfrm>
          <a:prstGeom prst="roundRect">
            <a:avLst>
              <a:gd name="adj" fmla="val 11111"/>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2" name="Text 10"/>
          <p:cNvSpPr/>
          <p:nvPr/>
        </p:nvSpPr>
        <p:spPr>
          <a:xfrm>
            <a:off x="6364224" y="1618488"/>
            <a:ext cx="2148840" cy="347472"/>
          </a:xfrm>
          <a:prstGeom prst="rect">
            <a:avLst/>
          </a:prstGeom>
          <a:noFill/>
          <a:ln/>
        </p:spPr>
        <p:txBody>
          <a:bodyPr wrap="square" lIns="0" tIns="0" rIns="0" bIns="0" rtlCol="0" anchor="ctr"/>
          <a:lstStyle/>
          <a:p>
            <a:pPr marL="0" indent="0" algn="ctr">
              <a:buNone/>
            </a:pPr>
            <a:r>
              <a:rPr lang="en-US" sz="2400" b="1">
                <a:solidFill>
                  <a:srgbClr val="0B1220"/>
                </a:solidFill>
              </a:rPr>
              <a:t>75.9%</a:t>
            </a:r>
            <a:endParaRPr lang="en-US" sz="2400"/>
          </a:p>
        </p:txBody>
      </p:sp>
      <p:sp>
        <p:nvSpPr>
          <p:cNvPr id="13" name="Text 11"/>
          <p:cNvSpPr/>
          <p:nvPr/>
        </p:nvSpPr>
        <p:spPr>
          <a:xfrm>
            <a:off x="6364224" y="2029968"/>
            <a:ext cx="2148840" cy="164592"/>
          </a:xfrm>
          <a:prstGeom prst="rect">
            <a:avLst/>
          </a:prstGeom>
          <a:noFill/>
          <a:ln/>
        </p:spPr>
        <p:txBody>
          <a:bodyPr wrap="square" lIns="0" tIns="0" rIns="0" bIns="0" rtlCol="0" anchor="ctr"/>
          <a:lstStyle/>
          <a:p>
            <a:pPr marL="0" indent="0" algn="ctr">
              <a:buNone/>
            </a:pPr>
            <a:r>
              <a:rPr lang="en-US" sz="780" b="1" kern="0" spc="60">
                <a:solidFill>
                  <a:srgbClr val="667085"/>
                </a:solidFill>
              </a:rPr>
              <a:t>&lt;=50K</a:t>
            </a:r>
            <a:endParaRPr lang="en-US" sz="780"/>
          </a:p>
        </p:txBody>
      </p:sp>
      <p:sp>
        <p:nvSpPr>
          <p:cNvPr id="14" name="Shape 12"/>
          <p:cNvSpPr/>
          <p:nvPr/>
        </p:nvSpPr>
        <p:spPr>
          <a:xfrm>
            <a:off x="9015984" y="1426464"/>
            <a:ext cx="2514600" cy="987552"/>
          </a:xfrm>
          <a:prstGeom prst="roundRect">
            <a:avLst>
              <a:gd name="adj" fmla="val 11111"/>
            </a:avLst>
          </a:prstGeom>
          <a:solidFill>
            <a:srgbClr val="0B1220"/>
          </a:solidFill>
          <a:ln w="12700">
            <a:solidFill>
              <a:srgbClr val="0B1220"/>
            </a:solidFill>
            <a:prstDash val="solid"/>
          </a:ln>
          <a:effectLst>
            <a:outerShdw blurRad="19050" dist="50800" dir="2700000" algn="bl" rotWithShape="0">
              <a:srgbClr val="BBC4D1">
                <a:alpha val="18000"/>
              </a:srgbClr>
            </a:outerShdw>
          </a:effectLst>
        </p:spPr>
        <p:txBody>
          <a:bodyPr/>
          <a:lstStyle/>
          <a:p>
            <a:endParaRPr lang="nl-NL"/>
          </a:p>
        </p:txBody>
      </p:sp>
      <p:sp>
        <p:nvSpPr>
          <p:cNvPr id="15" name="Text 13"/>
          <p:cNvSpPr/>
          <p:nvPr/>
        </p:nvSpPr>
        <p:spPr>
          <a:xfrm>
            <a:off x="9180576" y="1618488"/>
            <a:ext cx="2148840" cy="347472"/>
          </a:xfrm>
          <a:prstGeom prst="rect">
            <a:avLst/>
          </a:prstGeom>
          <a:noFill/>
          <a:ln/>
        </p:spPr>
        <p:txBody>
          <a:bodyPr wrap="square" lIns="0" tIns="0" rIns="0" bIns="0" rtlCol="0" anchor="ctr"/>
          <a:lstStyle/>
          <a:p>
            <a:pPr marL="0" indent="0" algn="ctr">
              <a:buNone/>
            </a:pPr>
            <a:r>
              <a:rPr lang="en-US" sz="2400" b="1">
                <a:solidFill>
                  <a:srgbClr val="FFFFFF"/>
                </a:solidFill>
              </a:rPr>
              <a:t>1994</a:t>
            </a:r>
            <a:endParaRPr lang="en-US" sz="2400"/>
          </a:p>
        </p:txBody>
      </p:sp>
      <p:sp>
        <p:nvSpPr>
          <p:cNvPr id="16" name="Text 14"/>
          <p:cNvSpPr/>
          <p:nvPr/>
        </p:nvSpPr>
        <p:spPr>
          <a:xfrm>
            <a:off x="9180576" y="2029968"/>
            <a:ext cx="2148840" cy="164592"/>
          </a:xfrm>
          <a:prstGeom prst="rect">
            <a:avLst/>
          </a:prstGeom>
          <a:noFill/>
          <a:ln/>
        </p:spPr>
        <p:txBody>
          <a:bodyPr wrap="square" lIns="0" tIns="0" rIns="0" bIns="0" rtlCol="0" anchor="ctr"/>
          <a:lstStyle/>
          <a:p>
            <a:pPr marL="0" indent="0" algn="ctr">
              <a:buNone/>
            </a:pPr>
            <a:r>
              <a:rPr lang="en-US" sz="780" b="1" kern="0" spc="60">
                <a:solidFill>
                  <a:srgbClr val="AEB7C8"/>
                </a:solidFill>
              </a:rPr>
              <a:t>US CENSUS</a:t>
            </a:r>
            <a:endParaRPr lang="en-US" sz="780"/>
          </a:p>
        </p:txBody>
      </p:sp>
      <p:sp>
        <p:nvSpPr>
          <p:cNvPr id="17" name="Shape 15"/>
          <p:cNvSpPr/>
          <p:nvPr/>
        </p:nvSpPr>
        <p:spPr>
          <a:xfrm>
            <a:off x="658368" y="2971800"/>
            <a:ext cx="1645920" cy="1627632"/>
          </a:xfrm>
          <a:prstGeom prst="roundRect">
            <a:avLst>
              <a:gd name="adj" fmla="val 6742"/>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8" name="Shape 16"/>
          <p:cNvSpPr/>
          <p:nvPr/>
        </p:nvSpPr>
        <p:spPr>
          <a:xfrm>
            <a:off x="1179576" y="3136392"/>
            <a:ext cx="603504" cy="603504"/>
          </a:xfrm>
          <a:prstGeom prst="ellipse">
            <a:avLst/>
          </a:prstGeom>
          <a:solidFill>
            <a:srgbClr val="EEF0FF"/>
          </a:solidFill>
          <a:ln w="12700">
            <a:solidFill>
              <a:srgbClr val="EEF0FF"/>
            </a:solidFill>
            <a:prstDash val="solid"/>
          </a:ln>
        </p:spPr>
        <p:txBody>
          <a:bodyPr/>
          <a:lstStyle/>
          <a:p>
            <a:endParaRPr lang="nl-NL"/>
          </a:p>
        </p:txBody>
      </p:sp>
      <p:pic>
        <p:nvPicPr>
          <p:cNvPr id="1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2456" y="3319272"/>
            <a:ext cx="237744" cy="237744"/>
          </a:xfrm>
          <a:prstGeom prst="rect">
            <a:avLst/>
          </a:prstGeom>
        </p:spPr>
      </p:pic>
      <p:sp>
        <p:nvSpPr>
          <p:cNvPr id="20" name="Text 17"/>
          <p:cNvSpPr/>
          <p:nvPr/>
        </p:nvSpPr>
        <p:spPr>
          <a:xfrm>
            <a:off x="768096" y="3840480"/>
            <a:ext cx="1426464" cy="219456"/>
          </a:xfrm>
          <a:prstGeom prst="rect">
            <a:avLst/>
          </a:prstGeom>
          <a:noFill/>
          <a:ln/>
        </p:spPr>
        <p:txBody>
          <a:bodyPr wrap="square" lIns="0" tIns="0" rIns="0" bIns="0" rtlCol="0" anchor="ctr"/>
          <a:lstStyle/>
          <a:p>
            <a:pPr marL="0" indent="0" algn="ctr">
              <a:buNone/>
            </a:pPr>
            <a:r>
              <a:rPr lang="en-US" sz="1200" b="1">
                <a:solidFill>
                  <a:srgbClr val="0B1220"/>
                </a:solidFill>
              </a:rPr>
              <a:t>Clean</a:t>
            </a:r>
            <a:endParaRPr lang="en-US" sz="1200"/>
          </a:p>
        </p:txBody>
      </p:sp>
      <p:sp>
        <p:nvSpPr>
          <p:cNvPr id="21" name="Text 18"/>
          <p:cNvSpPr/>
          <p:nvPr/>
        </p:nvSpPr>
        <p:spPr>
          <a:xfrm>
            <a:off x="749808" y="4096512"/>
            <a:ext cx="1463040" cy="420624"/>
          </a:xfrm>
          <a:prstGeom prst="rect">
            <a:avLst/>
          </a:prstGeom>
          <a:noFill/>
          <a:ln/>
        </p:spPr>
        <p:txBody>
          <a:bodyPr wrap="square" lIns="0" tIns="0" rIns="0" bIns="0" rtlCol="0" anchor="ctr"/>
          <a:lstStyle/>
          <a:p>
            <a:pPr marL="0" indent="0" algn="ctr">
              <a:buNone/>
            </a:pPr>
            <a:r>
              <a:rPr lang="en-US" sz="780">
                <a:solidFill>
                  <a:srgbClr val="667085"/>
                </a:solidFill>
              </a:rPr>
              <a:t>24 duplicates removed</a:t>
            </a:r>
            <a:endParaRPr lang="en-US" sz="780"/>
          </a:p>
          <a:p>
            <a:pPr marL="0" indent="0" algn="ctr">
              <a:buNone/>
            </a:pPr>
            <a:r>
              <a:rPr lang="en-US" sz="780">
                <a:solidFill>
                  <a:srgbClr val="667085"/>
                </a:solidFill>
              </a:rPr>
              <a:t>? → missing values</a:t>
            </a:r>
            <a:endParaRPr lang="en-US" sz="780"/>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77440" y="3575304"/>
            <a:ext cx="237744" cy="237744"/>
          </a:xfrm>
          <a:prstGeom prst="rect">
            <a:avLst/>
          </a:prstGeom>
        </p:spPr>
      </p:pic>
      <p:sp>
        <p:nvSpPr>
          <p:cNvPr id="23" name="Shape 19"/>
          <p:cNvSpPr/>
          <p:nvPr/>
        </p:nvSpPr>
        <p:spPr>
          <a:xfrm>
            <a:off x="2697480" y="2971800"/>
            <a:ext cx="1645920" cy="1627632"/>
          </a:xfrm>
          <a:prstGeom prst="roundRect">
            <a:avLst>
              <a:gd name="adj" fmla="val 6742"/>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24" name="Shape 20"/>
          <p:cNvSpPr/>
          <p:nvPr/>
        </p:nvSpPr>
        <p:spPr>
          <a:xfrm>
            <a:off x="3218688" y="3136392"/>
            <a:ext cx="603504" cy="603504"/>
          </a:xfrm>
          <a:prstGeom prst="ellipse">
            <a:avLst/>
          </a:prstGeom>
          <a:solidFill>
            <a:srgbClr val="EEF0FF"/>
          </a:solidFill>
          <a:ln w="12700">
            <a:solidFill>
              <a:srgbClr val="EEF0FF"/>
            </a:solidFill>
            <a:prstDash val="solid"/>
          </a:ln>
        </p:spPr>
        <p:txBody>
          <a:bodyPr/>
          <a:lstStyle/>
          <a:p>
            <a:endParaRPr lang="nl-NL"/>
          </a:p>
        </p:txBody>
      </p:sp>
      <p:pic>
        <p:nvPicPr>
          <p:cNvPr id="2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01568" y="3319272"/>
            <a:ext cx="237744" cy="237744"/>
          </a:xfrm>
          <a:prstGeom prst="rect">
            <a:avLst/>
          </a:prstGeom>
        </p:spPr>
      </p:pic>
      <p:sp>
        <p:nvSpPr>
          <p:cNvPr id="26" name="Text 21"/>
          <p:cNvSpPr/>
          <p:nvPr/>
        </p:nvSpPr>
        <p:spPr>
          <a:xfrm>
            <a:off x="2807208" y="3840480"/>
            <a:ext cx="1426464" cy="219456"/>
          </a:xfrm>
          <a:prstGeom prst="rect">
            <a:avLst/>
          </a:prstGeom>
          <a:noFill/>
          <a:ln/>
        </p:spPr>
        <p:txBody>
          <a:bodyPr wrap="square" lIns="0" tIns="0" rIns="0" bIns="0" rtlCol="0" anchor="ctr"/>
          <a:lstStyle/>
          <a:p>
            <a:pPr marL="0" indent="0" algn="ctr">
              <a:buNone/>
            </a:pPr>
            <a:r>
              <a:rPr lang="en-US" sz="1200" b="1">
                <a:solidFill>
                  <a:srgbClr val="0B1220"/>
                </a:solidFill>
              </a:rPr>
              <a:t>Split</a:t>
            </a:r>
            <a:endParaRPr lang="en-US" sz="1200"/>
          </a:p>
        </p:txBody>
      </p:sp>
      <p:sp>
        <p:nvSpPr>
          <p:cNvPr id="27" name="Text 22"/>
          <p:cNvSpPr/>
          <p:nvPr/>
        </p:nvSpPr>
        <p:spPr>
          <a:xfrm>
            <a:off x="2788920" y="4096512"/>
            <a:ext cx="1463040" cy="420624"/>
          </a:xfrm>
          <a:prstGeom prst="rect">
            <a:avLst/>
          </a:prstGeom>
          <a:noFill/>
          <a:ln/>
        </p:spPr>
        <p:txBody>
          <a:bodyPr wrap="square" lIns="0" tIns="0" rIns="0" bIns="0" rtlCol="0" anchor="ctr"/>
          <a:lstStyle/>
          <a:p>
            <a:pPr marL="0" indent="0" algn="ctr">
              <a:buNone/>
            </a:pPr>
            <a:r>
              <a:rPr lang="en-US" sz="780">
                <a:solidFill>
                  <a:srgbClr val="667085"/>
                </a:solidFill>
              </a:rPr>
              <a:t>80/20 stratified</a:t>
            </a:r>
            <a:endParaRPr lang="en-US" sz="780"/>
          </a:p>
          <a:p>
            <a:pPr marL="0" indent="0" algn="ctr">
              <a:buNone/>
            </a:pPr>
            <a:r>
              <a:rPr lang="en-US" sz="780">
                <a:solidFill>
                  <a:srgbClr val="667085"/>
                </a:solidFill>
              </a:rPr>
              <a:t>random_state=42</a:t>
            </a:r>
            <a:endParaRPr lang="en-US" sz="780"/>
          </a:p>
        </p:txBody>
      </p:sp>
      <p:pic>
        <p:nvPicPr>
          <p:cNvPr id="28"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16552" y="3575304"/>
            <a:ext cx="237744" cy="237744"/>
          </a:xfrm>
          <a:prstGeom prst="rect">
            <a:avLst/>
          </a:prstGeom>
        </p:spPr>
      </p:pic>
      <p:sp>
        <p:nvSpPr>
          <p:cNvPr id="29" name="Shape 23"/>
          <p:cNvSpPr/>
          <p:nvPr/>
        </p:nvSpPr>
        <p:spPr>
          <a:xfrm>
            <a:off x="4754880" y="2971800"/>
            <a:ext cx="1645920" cy="1627632"/>
          </a:xfrm>
          <a:prstGeom prst="roundRect">
            <a:avLst>
              <a:gd name="adj" fmla="val 6742"/>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30" name="Shape 24"/>
          <p:cNvSpPr/>
          <p:nvPr/>
        </p:nvSpPr>
        <p:spPr>
          <a:xfrm>
            <a:off x="5276088" y="3136392"/>
            <a:ext cx="603504" cy="603504"/>
          </a:xfrm>
          <a:prstGeom prst="ellipse">
            <a:avLst/>
          </a:prstGeom>
          <a:solidFill>
            <a:srgbClr val="EEF0FF"/>
          </a:solidFill>
          <a:ln w="12700">
            <a:solidFill>
              <a:srgbClr val="EEF0FF"/>
            </a:solidFill>
            <a:prstDash val="solid"/>
          </a:ln>
        </p:spPr>
        <p:txBody>
          <a:bodyPr/>
          <a:lstStyle/>
          <a:p>
            <a:endParaRPr lang="nl-NL"/>
          </a:p>
        </p:txBody>
      </p:sp>
      <p:pic>
        <p:nvPicPr>
          <p:cNvPr id="31"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58968" y="3319272"/>
            <a:ext cx="237744" cy="237744"/>
          </a:xfrm>
          <a:prstGeom prst="rect">
            <a:avLst/>
          </a:prstGeom>
        </p:spPr>
      </p:pic>
      <p:sp>
        <p:nvSpPr>
          <p:cNvPr id="32" name="Text 25"/>
          <p:cNvSpPr/>
          <p:nvPr/>
        </p:nvSpPr>
        <p:spPr>
          <a:xfrm>
            <a:off x="4864608" y="3840480"/>
            <a:ext cx="1426464" cy="219456"/>
          </a:xfrm>
          <a:prstGeom prst="rect">
            <a:avLst/>
          </a:prstGeom>
          <a:noFill/>
          <a:ln/>
        </p:spPr>
        <p:txBody>
          <a:bodyPr wrap="square" lIns="0" tIns="0" rIns="0" bIns="0" rtlCol="0" anchor="ctr"/>
          <a:lstStyle/>
          <a:p>
            <a:pPr marL="0" indent="0" algn="ctr">
              <a:buNone/>
            </a:pPr>
            <a:r>
              <a:rPr lang="en-US" sz="1200" b="1">
                <a:solidFill>
                  <a:srgbClr val="0B1220"/>
                </a:solidFill>
              </a:rPr>
              <a:t>Preprocess</a:t>
            </a:r>
            <a:endParaRPr lang="en-US" sz="1200"/>
          </a:p>
        </p:txBody>
      </p:sp>
      <p:sp>
        <p:nvSpPr>
          <p:cNvPr id="33" name="Text 26"/>
          <p:cNvSpPr/>
          <p:nvPr/>
        </p:nvSpPr>
        <p:spPr>
          <a:xfrm>
            <a:off x="4846320" y="4096512"/>
            <a:ext cx="1463040" cy="420624"/>
          </a:xfrm>
          <a:prstGeom prst="rect">
            <a:avLst/>
          </a:prstGeom>
          <a:noFill/>
          <a:ln/>
        </p:spPr>
        <p:txBody>
          <a:bodyPr wrap="square" lIns="0" tIns="0" rIns="0" bIns="0" rtlCol="0" anchor="ctr"/>
          <a:lstStyle/>
          <a:p>
            <a:pPr marL="0" indent="0" algn="ctr">
              <a:buNone/>
            </a:pPr>
            <a:r>
              <a:rPr lang="en-US" sz="780">
                <a:solidFill>
                  <a:srgbClr val="667085"/>
                </a:solidFill>
              </a:rPr>
              <a:t>Impute · scale · one-hot</a:t>
            </a:r>
            <a:endParaRPr lang="en-US" sz="780"/>
          </a:p>
          <a:p>
            <a:pPr marL="0" indent="0" algn="ctr">
              <a:buNone/>
            </a:pPr>
            <a:r>
              <a:rPr lang="en-US" sz="780">
                <a:solidFill>
                  <a:srgbClr val="667085"/>
                </a:solidFill>
              </a:rPr>
              <a:t>inside Pipeline</a:t>
            </a:r>
            <a:endParaRPr lang="en-US" sz="780"/>
          </a:p>
        </p:txBody>
      </p:sp>
      <p:pic>
        <p:nvPicPr>
          <p:cNvPr id="34"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73952" y="3575304"/>
            <a:ext cx="237744" cy="237744"/>
          </a:xfrm>
          <a:prstGeom prst="rect">
            <a:avLst/>
          </a:prstGeom>
        </p:spPr>
      </p:pic>
      <p:sp>
        <p:nvSpPr>
          <p:cNvPr id="35" name="Shape 27"/>
          <p:cNvSpPr/>
          <p:nvPr/>
        </p:nvSpPr>
        <p:spPr>
          <a:xfrm>
            <a:off x="6812280" y="2971800"/>
            <a:ext cx="1645920" cy="1627632"/>
          </a:xfrm>
          <a:prstGeom prst="roundRect">
            <a:avLst>
              <a:gd name="adj" fmla="val 6742"/>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36" name="Shape 28"/>
          <p:cNvSpPr/>
          <p:nvPr/>
        </p:nvSpPr>
        <p:spPr>
          <a:xfrm>
            <a:off x="7333488" y="3136392"/>
            <a:ext cx="603504" cy="603504"/>
          </a:xfrm>
          <a:prstGeom prst="ellipse">
            <a:avLst/>
          </a:prstGeom>
          <a:solidFill>
            <a:srgbClr val="EEF0FF"/>
          </a:solidFill>
          <a:ln w="12700">
            <a:solidFill>
              <a:srgbClr val="EEF0FF"/>
            </a:solidFill>
            <a:prstDash val="solid"/>
          </a:ln>
        </p:spPr>
        <p:txBody>
          <a:bodyPr/>
          <a:lstStyle/>
          <a:p>
            <a:endParaRPr lang="nl-NL"/>
          </a:p>
        </p:txBody>
      </p:sp>
      <p:pic>
        <p:nvPicPr>
          <p:cNvPr id="37"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16368" y="3319272"/>
            <a:ext cx="237744" cy="237744"/>
          </a:xfrm>
          <a:prstGeom prst="rect">
            <a:avLst/>
          </a:prstGeom>
        </p:spPr>
      </p:pic>
      <p:sp>
        <p:nvSpPr>
          <p:cNvPr id="38" name="Text 29"/>
          <p:cNvSpPr/>
          <p:nvPr/>
        </p:nvSpPr>
        <p:spPr>
          <a:xfrm>
            <a:off x="6922008" y="3840480"/>
            <a:ext cx="1426464" cy="219456"/>
          </a:xfrm>
          <a:prstGeom prst="rect">
            <a:avLst/>
          </a:prstGeom>
          <a:noFill/>
          <a:ln/>
        </p:spPr>
        <p:txBody>
          <a:bodyPr wrap="square" lIns="0" tIns="0" rIns="0" bIns="0" rtlCol="0" anchor="ctr"/>
          <a:lstStyle/>
          <a:p>
            <a:pPr marL="0" indent="0" algn="ctr">
              <a:buNone/>
            </a:pPr>
            <a:r>
              <a:rPr lang="en-US" sz="1200" b="1">
                <a:solidFill>
                  <a:srgbClr val="0B1220"/>
                </a:solidFill>
              </a:rPr>
              <a:t>Tune</a:t>
            </a:r>
            <a:endParaRPr lang="en-US" sz="1200"/>
          </a:p>
        </p:txBody>
      </p:sp>
      <p:sp>
        <p:nvSpPr>
          <p:cNvPr id="39" name="Text 30"/>
          <p:cNvSpPr/>
          <p:nvPr/>
        </p:nvSpPr>
        <p:spPr>
          <a:xfrm>
            <a:off x="6903720" y="4096512"/>
            <a:ext cx="1463040" cy="420624"/>
          </a:xfrm>
          <a:prstGeom prst="rect">
            <a:avLst/>
          </a:prstGeom>
          <a:noFill/>
          <a:ln/>
        </p:spPr>
        <p:txBody>
          <a:bodyPr wrap="square" lIns="0" tIns="0" rIns="0" bIns="0" rtlCol="0" anchor="ctr"/>
          <a:lstStyle/>
          <a:p>
            <a:pPr marL="0" indent="0" algn="ctr">
              <a:buNone/>
            </a:pPr>
            <a:r>
              <a:rPr lang="en-US" sz="780">
                <a:solidFill>
                  <a:srgbClr val="667085"/>
                </a:solidFill>
              </a:rPr>
              <a:t>5-fold stratified CV</a:t>
            </a:r>
            <a:endParaRPr lang="en-US" sz="780"/>
          </a:p>
          <a:p>
            <a:pPr marL="0" indent="0" algn="ctr">
              <a:buNone/>
            </a:pPr>
            <a:r>
              <a:rPr lang="en-US" sz="780">
                <a:solidFill>
                  <a:srgbClr val="667085"/>
                </a:solidFill>
              </a:rPr>
              <a:t>same metric/folds</a:t>
            </a:r>
            <a:endParaRPr lang="en-US" sz="780"/>
          </a:p>
        </p:txBody>
      </p:sp>
      <p:pic>
        <p:nvPicPr>
          <p:cNvPr id="40"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31352" y="3575304"/>
            <a:ext cx="237744" cy="237744"/>
          </a:xfrm>
          <a:prstGeom prst="rect">
            <a:avLst/>
          </a:prstGeom>
        </p:spPr>
      </p:pic>
      <p:sp>
        <p:nvSpPr>
          <p:cNvPr id="41" name="Shape 31"/>
          <p:cNvSpPr/>
          <p:nvPr/>
        </p:nvSpPr>
        <p:spPr>
          <a:xfrm>
            <a:off x="8869680" y="2971800"/>
            <a:ext cx="1645920" cy="1627632"/>
          </a:xfrm>
          <a:prstGeom prst="roundRect">
            <a:avLst>
              <a:gd name="adj" fmla="val 6742"/>
            </a:avLst>
          </a:prstGeom>
          <a:solidFill>
            <a:srgbClr val="EAFBF7"/>
          </a:solidFill>
          <a:ln w="12700">
            <a:solidFill>
              <a:srgbClr val="B7EAE1"/>
            </a:solidFill>
            <a:prstDash val="solid"/>
          </a:ln>
          <a:effectLst>
            <a:outerShdw blurRad="19050" dist="50800" dir="2700000" algn="bl" rotWithShape="0">
              <a:srgbClr val="BBC4D1">
                <a:alpha val="18000"/>
              </a:srgbClr>
            </a:outerShdw>
          </a:effectLst>
        </p:spPr>
        <p:txBody>
          <a:bodyPr/>
          <a:lstStyle/>
          <a:p>
            <a:endParaRPr lang="nl-NL"/>
          </a:p>
        </p:txBody>
      </p:sp>
      <p:sp>
        <p:nvSpPr>
          <p:cNvPr id="42" name="Shape 32"/>
          <p:cNvSpPr/>
          <p:nvPr/>
        </p:nvSpPr>
        <p:spPr>
          <a:xfrm>
            <a:off x="9390888" y="3136392"/>
            <a:ext cx="603504" cy="603504"/>
          </a:xfrm>
          <a:prstGeom prst="ellipse">
            <a:avLst/>
          </a:prstGeom>
          <a:solidFill>
            <a:srgbClr val="12B8A6"/>
          </a:solidFill>
          <a:ln w="12700">
            <a:solidFill>
              <a:srgbClr val="12B8A6"/>
            </a:solidFill>
            <a:prstDash val="solid"/>
          </a:ln>
        </p:spPr>
        <p:txBody>
          <a:bodyPr/>
          <a:lstStyle/>
          <a:p>
            <a:endParaRPr lang="nl-NL"/>
          </a:p>
        </p:txBody>
      </p:sp>
      <p:pic>
        <p:nvPicPr>
          <p:cNvPr id="43" name="Image 8"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73768" y="3319272"/>
            <a:ext cx="237744" cy="237744"/>
          </a:xfrm>
          <a:prstGeom prst="rect">
            <a:avLst/>
          </a:prstGeom>
        </p:spPr>
      </p:pic>
      <p:sp>
        <p:nvSpPr>
          <p:cNvPr id="44" name="Text 33"/>
          <p:cNvSpPr/>
          <p:nvPr/>
        </p:nvSpPr>
        <p:spPr>
          <a:xfrm>
            <a:off x="8979408" y="3840480"/>
            <a:ext cx="1426464" cy="219456"/>
          </a:xfrm>
          <a:prstGeom prst="rect">
            <a:avLst/>
          </a:prstGeom>
          <a:noFill/>
          <a:ln/>
        </p:spPr>
        <p:txBody>
          <a:bodyPr wrap="square" lIns="0" tIns="0" rIns="0" bIns="0" rtlCol="0" anchor="ctr"/>
          <a:lstStyle/>
          <a:p>
            <a:pPr marL="0" indent="0" algn="ctr">
              <a:buNone/>
            </a:pPr>
            <a:r>
              <a:rPr lang="en-US" sz="1200" b="1">
                <a:solidFill>
                  <a:srgbClr val="0B1220"/>
                </a:solidFill>
              </a:rPr>
              <a:t>Test once</a:t>
            </a:r>
            <a:endParaRPr lang="en-US" sz="1200"/>
          </a:p>
        </p:txBody>
      </p:sp>
      <p:sp>
        <p:nvSpPr>
          <p:cNvPr id="45" name="Text 34"/>
          <p:cNvSpPr/>
          <p:nvPr/>
        </p:nvSpPr>
        <p:spPr>
          <a:xfrm>
            <a:off x="8961120" y="4096512"/>
            <a:ext cx="1463040" cy="420624"/>
          </a:xfrm>
          <a:prstGeom prst="rect">
            <a:avLst/>
          </a:prstGeom>
          <a:noFill/>
          <a:ln/>
        </p:spPr>
        <p:txBody>
          <a:bodyPr wrap="square" lIns="0" tIns="0" rIns="0" bIns="0" rtlCol="0" anchor="ctr"/>
          <a:lstStyle/>
          <a:p>
            <a:pPr marL="0" indent="0" algn="ctr">
              <a:buNone/>
            </a:pPr>
            <a:r>
              <a:rPr lang="en-US" sz="780">
                <a:solidFill>
                  <a:srgbClr val="667085"/>
                </a:solidFill>
              </a:rPr>
              <a:t>6,508 rows</a:t>
            </a:r>
            <a:endParaRPr lang="en-US" sz="780"/>
          </a:p>
          <a:p>
            <a:pPr marL="0" indent="0" algn="ctr">
              <a:buNone/>
            </a:pPr>
            <a:r>
              <a:rPr lang="en-US" sz="780">
                <a:solidFill>
                  <a:srgbClr val="667085"/>
                </a:solidFill>
              </a:rPr>
              <a:t>untouched until end</a:t>
            </a:r>
            <a:endParaRPr lang="en-US" sz="780"/>
          </a:p>
        </p:txBody>
      </p:sp>
      <p:sp>
        <p:nvSpPr>
          <p:cNvPr id="46" name="Shape 35"/>
          <p:cNvSpPr/>
          <p:nvPr/>
        </p:nvSpPr>
        <p:spPr>
          <a:xfrm>
            <a:off x="658368" y="5001768"/>
            <a:ext cx="9857232" cy="704088"/>
          </a:xfrm>
          <a:prstGeom prst="roundRect">
            <a:avLst>
              <a:gd name="adj" fmla="val 15584"/>
            </a:avLst>
          </a:prstGeom>
          <a:solidFill>
            <a:srgbClr val="0B1220"/>
          </a:solidFill>
          <a:ln w="12700">
            <a:solidFill>
              <a:srgbClr val="0B1220"/>
            </a:solidFill>
            <a:prstDash val="solid"/>
          </a:ln>
        </p:spPr>
        <p:txBody>
          <a:bodyPr/>
          <a:lstStyle/>
          <a:p>
            <a:endParaRPr lang="nl-NL"/>
          </a:p>
        </p:txBody>
      </p:sp>
      <p:pic>
        <p:nvPicPr>
          <p:cNvPr id="47" name="Image 9"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6112" y="5175504"/>
            <a:ext cx="301752" cy="301752"/>
          </a:xfrm>
          <a:prstGeom prst="rect">
            <a:avLst/>
          </a:prstGeom>
        </p:spPr>
      </p:pic>
      <p:sp>
        <p:nvSpPr>
          <p:cNvPr id="48" name="Text 36"/>
          <p:cNvSpPr/>
          <p:nvPr/>
        </p:nvSpPr>
        <p:spPr>
          <a:xfrm>
            <a:off x="1307592" y="5111496"/>
            <a:ext cx="2377440" cy="201168"/>
          </a:xfrm>
          <a:prstGeom prst="rect">
            <a:avLst/>
          </a:prstGeom>
          <a:noFill/>
          <a:ln/>
        </p:spPr>
        <p:txBody>
          <a:bodyPr wrap="square" lIns="0" tIns="0" rIns="0" bIns="0" rtlCol="0" anchor="ctr"/>
          <a:lstStyle/>
          <a:p>
            <a:pPr marL="0" indent="0">
              <a:buNone/>
            </a:pPr>
            <a:r>
              <a:rPr lang="en-US" sz="970" b="1">
                <a:solidFill>
                  <a:srgbClr val="BFC9DC"/>
                </a:solidFill>
              </a:rPr>
              <a:t>Pipeline decision we defend hardest:</a:t>
            </a:r>
            <a:endParaRPr lang="en-US" sz="970"/>
          </a:p>
        </p:txBody>
      </p:sp>
      <p:sp>
        <p:nvSpPr>
          <p:cNvPr id="49" name="Text 37"/>
          <p:cNvSpPr/>
          <p:nvPr/>
        </p:nvSpPr>
        <p:spPr>
          <a:xfrm>
            <a:off x="3703320" y="5074920"/>
            <a:ext cx="6400800" cy="274320"/>
          </a:xfrm>
          <a:prstGeom prst="rect">
            <a:avLst/>
          </a:prstGeom>
          <a:noFill/>
          <a:ln/>
        </p:spPr>
        <p:txBody>
          <a:bodyPr wrap="square" lIns="0" tIns="0" rIns="0" bIns="0" rtlCol="0" anchor="ctr"/>
          <a:lstStyle/>
          <a:p>
            <a:pPr marL="0" indent="0">
              <a:buNone/>
            </a:pPr>
            <a:r>
              <a:rPr lang="en-US" sz="1220" b="1">
                <a:solidFill>
                  <a:srgbClr val="FFFFFF"/>
                </a:solidFill>
              </a:rPr>
              <a:t>split first, then fit all imputation, encoding and scaling only inside the training pipeline.</a:t>
            </a:r>
            <a:endParaRPr lang="en-US" sz="1220"/>
          </a:p>
        </p:txBody>
      </p:sp>
      <p:sp>
        <p:nvSpPr>
          <p:cNvPr id="50" name="Text 38"/>
          <p:cNvSpPr/>
          <p:nvPr/>
        </p:nvSpPr>
        <p:spPr>
          <a:xfrm>
            <a:off x="3703320" y="5394960"/>
            <a:ext cx="6217920" cy="164592"/>
          </a:xfrm>
          <a:prstGeom prst="rect">
            <a:avLst/>
          </a:prstGeom>
          <a:noFill/>
          <a:ln/>
        </p:spPr>
        <p:txBody>
          <a:bodyPr wrap="square" lIns="0" tIns="0" rIns="0" bIns="0" rtlCol="0" anchor="ctr"/>
          <a:lstStyle/>
          <a:p>
            <a:pPr marL="0" indent="0">
              <a:buNone/>
            </a:pPr>
            <a:r>
              <a:rPr lang="en-US" sz="840">
                <a:solidFill>
                  <a:srgbClr val="AAB5C7"/>
                </a:solidFill>
              </a:rPr>
              <a:t>This prevents data leakage and keeps the comparison honest.</a:t>
            </a:r>
            <a:endParaRPr lang="en-US" sz="840"/>
          </a:p>
        </p:txBody>
      </p:sp>
      <p:sp>
        <p:nvSpPr>
          <p:cNvPr id="51" name="Shape 39"/>
          <p:cNvSpPr/>
          <p:nvPr/>
        </p:nvSpPr>
        <p:spPr>
          <a:xfrm>
            <a:off x="10680192" y="3063240"/>
            <a:ext cx="932688" cy="310896"/>
          </a:xfrm>
          <a:prstGeom prst="roundRect">
            <a:avLst>
              <a:gd name="adj" fmla="val 23529"/>
            </a:avLst>
          </a:prstGeom>
          <a:solidFill>
            <a:srgbClr val="FDEEEE"/>
          </a:solidFill>
          <a:ln w="12700">
            <a:solidFill>
              <a:srgbClr val="FDEEEE"/>
            </a:solidFill>
            <a:prstDash val="solid"/>
          </a:ln>
        </p:spPr>
        <p:txBody>
          <a:bodyPr/>
          <a:lstStyle/>
          <a:p>
            <a:endParaRPr lang="nl-NL"/>
          </a:p>
        </p:txBody>
      </p:sp>
      <p:sp>
        <p:nvSpPr>
          <p:cNvPr id="52" name="Text 40"/>
          <p:cNvSpPr/>
          <p:nvPr/>
        </p:nvSpPr>
        <p:spPr>
          <a:xfrm>
            <a:off x="10753344" y="3113532"/>
            <a:ext cx="786384" cy="182880"/>
          </a:xfrm>
          <a:prstGeom prst="rect">
            <a:avLst/>
          </a:prstGeom>
          <a:noFill/>
          <a:ln/>
        </p:spPr>
        <p:txBody>
          <a:bodyPr wrap="square" lIns="0" tIns="0" rIns="0" bIns="0" rtlCol="0" anchor="ctr"/>
          <a:lstStyle/>
          <a:p>
            <a:pPr marL="0" indent="0" algn="ctr">
              <a:buNone/>
            </a:pPr>
            <a:r>
              <a:rPr lang="en-US" sz="840" b="1">
                <a:solidFill>
                  <a:srgbClr val="E85353"/>
                </a:solidFill>
              </a:rPr>
              <a:t>sex &amp; race withheld from training</a:t>
            </a:r>
            <a:endParaRPr lang="en-US" sz="840"/>
          </a:p>
        </p:txBody>
      </p:sp>
      <p:sp>
        <p:nvSpPr>
          <p:cNvPr id="53" name="Shape 41"/>
          <p:cNvSpPr/>
          <p:nvPr/>
        </p:nvSpPr>
        <p:spPr>
          <a:xfrm>
            <a:off x="10680192" y="3657600"/>
            <a:ext cx="932688" cy="310896"/>
          </a:xfrm>
          <a:prstGeom prst="roundRect">
            <a:avLst>
              <a:gd name="adj" fmla="val 23529"/>
            </a:avLst>
          </a:prstGeom>
          <a:solidFill>
            <a:srgbClr val="EEF0FF"/>
          </a:solidFill>
          <a:ln w="12700">
            <a:solidFill>
              <a:srgbClr val="EEF0FF"/>
            </a:solidFill>
            <a:prstDash val="solid"/>
          </a:ln>
        </p:spPr>
        <p:txBody>
          <a:bodyPr/>
          <a:lstStyle/>
          <a:p>
            <a:endParaRPr lang="nl-NL"/>
          </a:p>
        </p:txBody>
      </p:sp>
      <p:sp>
        <p:nvSpPr>
          <p:cNvPr id="54" name="Text 42"/>
          <p:cNvSpPr/>
          <p:nvPr/>
        </p:nvSpPr>
        <p:spPr>
          <a:xfrm>
            <a:off x="10753344" y="3707892"/>
            <a:ext cx="786384" cy="182880"/>
          </a:xfrm>
          <a:prstGeom prst="rect">
            <a:avLst/>
          </a:prstGeom>
          <a:noFill/>
          <a:ln/>
        </p:spPr>
        <p:txBody>
          <a:bodyPr wrap="square" lIns="0" tIns="0" rIns="0" bIns="0" rtlCol="0" anchor="ctr"/>
          <a:lstStyle/>
          <a:p>
            <a:pPr marL="0" indent="0" algn="ctr">
              <a:buNone/>
            </a:pPr>
            <a:r>
              <a:rPr lang="en-US" sz="840" b="1">
                <a:solidFill>
                  <a:srgbClr val="5B5FEF"/>
                </a:solidFill>
              </a:rPr>
              <a:t>10 model features</a:t>
            </a:r>
            <a:endParaRPr lang="en-US" sz="840"/>
          </a:p>
        </p:txBody>
      </p:sp>
      <p:sp>
        <p:nvSpPr>
          <p:cNvPr id="55" name="Text 43"/>
          <p:cNvSpPr/>
          <p:nvPr/>
        </p:nvSpPr>
        <p:spPr>
          <a:xfrm>
            <a:off x="566928" y="6336792"/>
            <a:ext cx="10561320" cy="137160"/>
          </a:xfrm>
          <a:prstGeom prst="rect">
            <a:avLst/>
          </a:prstGeom>
          <a:noFill/>
          <a:ln/>
        </p:spPr>
        <p:txBody>
          <a:bodyPr wrap="square" lIns="0" tIns="0" rIns="0" bIns="0" rtlCol="0" anchor="ctr"/>
          <a:lstStyle/>
          <a:p>
            <a:pPr marL="0" indent="0">
              <a:buNone/>
            </a:pPr>
            <a:r>
              <a:rPr lang="en-US" sz="650">
                <a:solidFill>
                  <a:srgbClr val="8A94A6"/>
                </a:solidFill>
              </a:rPr>
              <a:t>Dataset: UCI Adult (Census Income), extracted from the 1994 US Census; downloaded via Hugging Face; CC BY 4.0.</a:t>
            </a:r>
            <a:endParaRPr lang="en-US" sz="650"/>
          </a:p>
        </p:txBody>
      </p:sp>
      <p:sp>
        <p:nvSpPr>
          <p:cNvPr id="56"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384048"/>
            <a:ext cx="8138160" cy="457200"/>
          </a:xfrm>
          <a:prstGeom prst="rect">
            <a:avLst/>
          </a:prstGeom>
          <a:noFill/>
          <a:ln/>
        </p:spPr>
        <p:txBody>
          <a:bodyPr wrap="square" lIns="0" tIns="0" rIns="0" bIns="0" rtlCol="0" anchor="ctr"/>
          <a:lstStyle/>
          <a:p>
            <a:pPr marL="0" indent="0">
              <a:buNone/>
            </a:pPr>
            <a:r>
              <a:rPr lang="en-US" sz="2700" b="1">
                <a:solidFill>
                  <a:srgbClr val="0B1220"/>
                </a:solidFill>
                <a:latin typeface="Aptos Display" pitchFamily="34" charset="0"/>
                <a:ea typeface="Aptos Display" pitchFamily="34" charset="-122"/>
                <a:cs typeface="Aptos Display" pitchFamily="34" charset="-120"/>
              </a:rPr>
              <a:t>Model showdown</a:t>
            </a:r>
            <a:endParaRPr lang="en-US" sz="2700"/>
          </a:p>
        </p:txBody>
      </p:sp>
      <p:sp>
        <p:nvSpPr>
          <p:cNvPr id="3" name="Text 1"/>
          <p:cNvSpPr/>
          <p:nvPr/>
        </p:nvSpPr>
        <p:spPr>
          <a:xfrm>
            <a:off x="548640" y="859536"/>
            <a:ext cx="9966960" cy="256032"/>
          </a:xfrm>
          <a:prstGeom prst="rect">
            <a:avLst/>
          </a:prstGeom>
          <a:noFill/>
          <a:ln/>
        </p:spPr>
        <p:txBody>
          <a:bodyPr wrap="square" lIns="0" tIns="0" rIns="0" bIns="0" rtlCol="0" anchor="ctr"/>
          <a:lstStyle/>
          <a:p>
            <a:pPr marL="0" indent="0">
              <a:buNone/>
            </a:pPr>
            <a:r>
              <a:rPr lang="en-US" sz="1050">
                <a:solidFill>
                  <a:srgbClr val="667085"/>
                </a:solidFill>
              </a:rPr>
              <a:t>All models tuned on the same folds using balanced accuracy</a:t>
            </a:r>
            <a:endParaRPr lang="en-US" sz="1050"/>
          </a:p>
        </p:txBody>
      </p:sp>
      <p:sp>
        <p:nvSpPr>
          <p:cNvPr id="4" name="Shape 2"/>
          <p:cNvSpPr/>
          <p:nvPr/>
        </p:nvSpPr>
        <p:spPr>
          <a:xfrm>
            <a:off x="530352" y="1152144"/>
            <a:ext cx="11109960" cy="0"/>
          </a:xfrm>
          <a:prstGeom prst="line">
            <a:avLst/>
          </a:prstGeom>
          <a:noFill/>
          <a:ln w="12700">
            <a:solidFill>
              <a:srgbClr val="DFE4EC"/>
            </a:solidFill>
            <a:prstDash val="solid"/>
          </a:ln>
        </p:spPr>
        <p:txBody>
          <a:bodyPr/>
          <a:lstStyle/>
          <a:p>
            <a:endParaRPr lang="nl-NL"/>
          </a:p>
        </p:txBody>
      </p:sp>
      <p:sp>
        <p:nvSpPr>
          <p:cNvPr id="5" name="Shape 3"/>
          <p:cNvSpPr/>
          <p:nvPr/>
        </p:nvSpPr>
        <p:spPr>
          <a:xfrm>
            <a:off x="566928" y="1417320"/>
            <a:ext cx="7178040" cy="4498848"/>
          </a:xfrm>
          <a:prstGeom prst="roundRect">
            <a:avLst>
              <a:gd name="adj" fmla="val 2439"/>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6" name="Text 4"/>
          <p:cNvSpPr/>
          <p:nvPr/>
        </p:nvSpPr>
        <p:spPr>
          <a:xfrm>
            <a:off x="841248" y="1673352"/>
            <a:ext cx="2377440" cy="228600"/>
          </a:xfrm>
          <a:prstGeom prst="rect">
            <a:avLst/>
          </a:prstGeom>
          <a:noFill/>
          <a:ln/>
        </p:spPr>
        <p:txBody>
          <a:bodyPr wrap="square" lIns="0" tIns="0" rIns="0" bIns="0" rtlCol="0" anchor="ctr"/>
          <a:lstStyle/>
          <a:p>
            <a:pPr marL="0" indent="0">
              <a:buNone/>
            </a:pPr>
            <a:r>
              <a:rPr lang="en-US" sz="1300" b="1">
                <a:solidFill>
                  <a:srgbClr val="0B1220"/>
                </a:solidFill>
              </a:rPr>
              <a:t>Test balanced accuracy</a:t>
            </a:r>
            <a:endParaRPr lang="en-US" sz="1300"/>
          </a:p>
        </p:txBody>
      </p:sp>
      <p:sp>
        <p:nvSpPr>
          <p:cNvPr id="7" name="Text 5"/>
          <p:cNvSpPr/>
          <p:nvPr/>
        </p:nvSpPr>
        <p:spPr>
          <a:xfrm>
            <a:off x="859536" y="2203704"/>
            <a:ext cx="1234440" cy="164592"/>
          </a:xfrm>
          <a:prstGeom prst="rect">
            <a:avLst/>
          </a:prstGeom>
          <a:noFill/>
          <a:ln/>
        </p:spPr>
        <p:txBody>
          <a:bodyPr wrap="square" lIns="0" tIns="0" rIns="0" bIns="0" rtlCol="0" anchor="ctr"/>
          <a:lstStyle/>
          <a:p>
            <a:pPr marL="0" indent="0" algn="r">
              <a:buNone/>
            </a:pPr>
            <a:r>
              <a:rPr lang="en-US" sz="930">
                <a:solidFill>
                  <a:srgbClr val="182230"/>
                </a:solidFill>
              </a:rPr>
              <a:t>Dummy</a:t>
            </a:r>
            <a:endParaRPr lang="en-US" sz="930"/>
          </a:p>
        </p:txBody>
      </p:sp>
      <p:sp>
        <p:nvSpPr>
          <p:cNvPr id="8" name="Shape 6"/>
          <p:cNvSpPr/>
          <p:nvPr/>
        </p:nvSpPr>
        <p:spPr>
          <a:xfrm>
            <a:off x="2247392" y="2199640"/>
            <a:ext cx="5410200" cy="378968"/>
          </a:xfrm>
          <a:prstGeom prst="roundRect">
            <a:avLst>
              <a:gd name="adj" fmla="val 8511"/>
            </a:avLst>
          </a:prstGeom>
          <a:solidFill>
            <a:srgbClr val="EEF1F5"/>
          </a:solidFill>
          <a:ln w="12700">
            <a:solidFill>
              <a:srgbClr val="EEF1F5"/>
            </a:solidFill>
            <a:prstDash val="solid"/>
          </a:ln>
        </p:spPr>
        <p:txBody>
          <a:bodyPr/>
          <a:lstStyle/>
          <a:p>
            <a:endParaRPr lang="nl-NL"/>
          </a:p>
        </p:txBody>
      </p:sp>
      <p:sp>
        <p:nvSpPr>
          <p:cNvPr id="9" name="Shape 7"/>
          <p:cNvSpPr/>
          <p:nvPr/>
        </p:nvSpPr>
        <p:spPr>
          <a:xfrm>
            <a:off x="2267712" y="2148840"/>
            <a:ext cx="2857500" cy="429768"/>
          </a:xfrm>
          <a:prstGeom prst="roundRect">
            <a:avLst>
              <a:gd name="adj" fmla="val 8511"/>
            </a:avLst>
          </a:prstGeom>
          <a:solidFill>
            <a:srgbClr val="B9C1CC"/>
          </a:solidFill>
          <a:ln w="12700">
            <a:solidFill>
              <a:srgbClr val="B9C1CC"/>
            </a:solidFill>
            <a:prstDash val="solid"/>
          </a:ln>
        </p:spPr>
        <p:txBody>
          <a:bodyPr/>
          <a:lstStyle/>
          <a:p>
            <a:endParaRPr lang="nl-NL"/>
          </a:p>
        </p:txBody>
      </p:sp>
      <p:sp>
        <p:nvSpPr>
          <p:cNvPr id="10" name="Text 8"/>
          <p:cNvSpPr/>
          <p:nvPr/>
        </p:nvSpPr>
        <p:spPr>
          <a:xfrm>
            <a:off x="5189220" y="2203704"/>
            <a:ext cx="502920" cy="164592"/>
          </a:xfrm>
          <a:prstGeom prst="rect">
            <a:avLst/>
          </a:prstGeom>
          <a:noFill/>
          <a:ln/>
        </p:spPr>
        <p:txBody>
          <a:bodyPr wrap="square" lIns="0" tIns="0" rIns="0" bIns="0" rtlCol="0" anchor="ctr"/>
          <a:lstStyle/>
          <a:p>
            <a:pPr marL="0" indent="0">
              <a:buNone/>
            </a:pPr>
            <a:r>
              <a:rPr lang="en-US" sz="950" b="1">
                <a:solidFill>
                  <a:srgbClr val="0B1220"/>
                </a:solidFill>
              </a:rPr>
              <a:t>0.500</a:t>
            </a:r>
            <a:endParaRPr lang="en-US" sz="950"/>
          </a:p>
        </p:txBody>
      </p:sp>
      <p:sp>
        <p:nvSpPr>
          <p:cNvPr id="11" name="Text 9"/>
          <p:cNvSpPr/>
          <p:nvPr/>
        </p:nvSpPr>
        <p:spPr>
          <a:xfrm>
            <a:off x="859536" y="2971800"/>
            <a:ext cx="1234440" cy="164592"/>
          </a:xfrm>
          <a:prstGeom prst="rect">
            <a:avLst/>
          </a:prstGeom>
          <a:noFill/>
          <a:ln/>
        </p:spPr>
        <p:txBody>
          <a:bodyPr wrap="square" lIns="0" tIns="0" rIns="0" bIns="0" rtlCol="0" anchor="ctr"/>
          <a:lstStyle/>
          <a:p>
            <a:pPr marL="0" indent="0" algn="r">
              <a:buNone/>
            </a:pPr>
            <a:r>
              <a:rPr lang="en-US" sz="930">
                <a:solidFill>
                  <a:srgbClr val="182230"/>
                </a:solidFill>
              </a:rPr>
              <a:t>Simple rule</a:t>
            </a:r>
            <a:endParaRPr lang="en-US" sz="930"/>
          </a:p>
        </p:txBody>
      </p:sp>
      <p:sp>
        <p:nvSpPr>
          <p:cNvPr id="12" name="Shape 10"/>
          <p:cNvSpPr/>
          <p:nvPr/>
        </p:nvSpPr>
        <p:spPr>
          <a:xfrm>
            <a:off x="2247392" y="2977896"/>
            <a:ext cx="5410200" cy="368808"/>
          </a:xfrm>
          <a:prstGeom prst="roundRect">
            <a:avLst>
              <a:gd name="adj" fmla="val 8511"/>
            </a:avLst>
          </a:prstGeom>
          <a:solidFill>
            <a:srgbClr val="EEF1F5"/>
          </a:solidFill>
          <a:ln w="12700">
            <a:solidFill>
              <a:srgbClr val="EEF1F5"/>
            </a:solidFill>
            <a:prstDash val="solid"/>
          </a:ln>
        </p:spPr>
        <p:txBody>
          <a:bodyPr/>
          <a:lstStyle/>
          <a:p>
            <a:endParaRPr lang="nl-NL"/>
          </a:p>
        </p:txBody>
      </p:sp>
      <p:sp>
        <p:nvSpPr>
          <p:cNvPr id="13" name="Shape 11"/>
          <p:cNvSpPr/>
          <p:nvPr/>
        </p:nvSpPr>
        <p:spPr>
          <a:xfrm>
            <a:off x="2267712" y="2916936"/>
            <a:ext cx="3811905" cy="429768"/>
          </a:xfrm>
          <a:prstGeom prst="roundRect">
            <a:avLst>
              <a:gd name="adj" fmla="val 8511"/>
            </a:avLst>
          </a:prstGeom>
          <a:solidFill>
            <a:srgbClr val="C7CED8"/>
          </a:solidFill>
          <a:ln w="12700">
            <a:solidFill>
              <a:srgbClr val="C7CED8"/>
            </a:solidFill>
            <a:prstDash val="solid"/>
          </a:ln>
        </p:spPr>
        <p:txBody>
          <a:bodyPr/>
          <a:lstStyle/>
          <a:p>
            <a:endParaRPr lang="nl-NL"/>
          </a:p>
        </p:txBody>
      </p:sp>
      <p:sp>
        <p:nvSpPr>
          <p:cNvPr id="14" name="Text 12"/>
          <p:cNvSpPr/>
          <p:nvPr/>
        </p:nvSpPr>
        <p:spPr>
          <a:xfrm>
            <a:off x="6143625" y="2971800"/>
            <a:ext cx="502920" cy="164592"/>
          </a:xfrm>
          <a:prstGeom prst="rect">
            <a:avLst/>
          </a:prstGeom>
          <a:noFill/>
          <a:ln/>
        </p:spPr>
        <p:txBody>
          <a:bodyPr wrap="square" lIns="0" tIns="0" rIns="0" bIns="0" rtlCol="0" anchor="ctr"/>
          <a:lstStyle/>
          <a:p>
            <a:pPr marL="0" indent="0">
              <a:buNone/>
            </a:pPr>
            <a:r>
              <a:rPr lang="en-US" sz="950" b="1">
                <a:solidFill>
                  <a:srgbClr val="0B1220"/>
                </a:solidFill>
              </a:rPr>
              <a:t>0.667</a:t>
            </a:r>
            <a:endParaRPr lang="en-US" sz="950"/>
          </a:p>
        </p:txBody>
      </p:sp>
      <p:sp>
        <p:nvSpPr>
          <p:cNvPr id="15" name="Text 13"/>
          <p:cNvSpPr/>
          <p:nvPr/>
        </p:nvSpPr>
        <p:spPr>
          <a:xfrm>
            <a:off x="859536" y="3739896"/>
            <a:ext cx="1234440" cy="164592"/>
          </a:xfrm>
          <a:prstGeom prst="rect">
            <a:avLst/>
          </a:prstGeom>
          <a:noFill/>
          <a:ln/>
        </p:spPr>
        <p:txBody>
          <a:bodyPr wrap="square" lIns="0" tIns="0" rIns="0" bIns="0" rtlCol="0" anchor="ctr"/>
          <a:lstStyle/>
          <a:p>
            <a:pPr marL="0" indent="0" algn="r">
              <a:buNone/>
            </a:pPr>
            <a:r>
              <a:rPr lang="en-US" sz="930">
                <a:solidFill>
                  <a:srgbClr val="182230"/>
                </a:solidFill>
              </a:rPr>
              <a:t>KNN</a:t>
            </a:r>
            <a:endParaRPr lang="en-US" sz="930"/>
          </a:p>
        </p:txBody>
      </p:sp>
      <p:sp>
        <p:nvSpPr>
          <p:cNvPr id="16" name="Shape 14"/>
          <p:cNvSpPr/>
          <p:nvPr/>
        </p:nvSpPr>
        <p:spPr>
          <a:xfrm>
            <a:off x="2247392" y="3674872"/>
            <a:ext cx="5410200" cy="429768"/>
          </a:xfrm>
          <a:prstGeom prst="roundRect">
            <a:avLst>
              <a:gd name="adj" fmla="val 8511"/>
            </a:avLst>
          </a:prstGeom>
          <a:solidFill>
            <a:srgbClr val="EEF1F5"/>
          </a:solidFill>
          <a:ln w="12700">
            <a:solidFill>
              <a:srgbClr val="EEF1F5"/>
            </a:solidFill>
            <a:prstDash val="solid"/>
          </a:ln>
        </p:spPr>
        <p:txBody>
          <a:bodyPr/>
          <a:lstStyle/>
          <a:p>
            <a:endParaRPr lang="nl-NL"/>
          </a:p>
        </p:txBody>
      </p:sp>
      <p:sp>
        <p:nvSpPr>
          <p:cNvPr id="17" name="Shape 15"/>
          <p:cNvSpPr/>
          <p:nvPr/>
        </p:nvSpPr>
        <p:spPr>
          <a:xfrm>
            <a:off x="2267712" y="3685032"/>
            <a:ext cx="4417695" cy="429768"/>
          </a:xfrm>
          <a:prstGeom prst="roundRect">
            <a:avLst>
              <a:gd name="adj" fmla="val 8511"/>
            </a:avLst>
          </a:prstGeom>
          <a:solidFill>
            <a:srgbClr val="8FA3FF"/>
          </a:solidFill>
          <a:ln w="12700">
            <a:solidFill>
              <a:srgbClr val="8FA3FF"/>
            </a:solidFill>
            <a:prstDash val="solid"/>
          </a:ln>
        </p:spPr>
        <p:txBody>
          <a:bodyPr/>
          <a:lstStyle/>
          <a:p>
            <a:endParaRPr lang="nl-NL"/>
          </a:p>
        </p:txBody>
      </p:sp>
      <p:sp>
        <p:nvSpPr>
          <p:cNvPr id="18" name="Text 16"/>
          <p:cNvSpPr/>
          <p:nvPr/>
        </p:nvSpPr>
        <p:spPr>
          <a:xfrm>
            <a:off x="6749415" y="3739896"/>
            <a:ext cx="502920" cy="164592"/>
          </a:xfrm>
          <a:prstGeom prst="rect">
            <a:avLst/>
          </a:prstGeom>
          <a:noFill/>
          <a:ln/>
        </p:spPr>
        <p:txBody>
          <a:bodyPr wrap="square" lIns="0" tIns="0" rIns="0" bIns="0" rtlCol="0" anchor="ctr"/>
          <a:lstStyle/>
          <a:p>
            <a:pPr marL="0" indent="0">
              <a:buNone/>
            </a:pPr>
            <a:r>
              <a:rPr lang="en-US" sz="950" b="1">
                <a:solidFill>
                  <a:srgbClr val="0B1220"/>
                </a:solidFill>
              </a:rPr>
              <a:t>0.773</a:t>
            </a:r>
            <a:endParaRPr lang="en-US" sz="950"/>
          </a:p>
        </p:txBody>
      </p:sp>
      <p:sp>
        <p:nvSpPr>
          <p:cNvPr id="19" name="Text 17"/>
          <p:cNvSpPr/>
          <p:nvPr/>
        </p:nvSpPr>
        <p:spPr>
          <a:xfrm>
            <a:off x="859536" y="4507992"/>
            <a:ext cx="1234440" cy="164592"/>
          </a:xfrm>
          <a:prstGeom prst="rect">
            <a:avLst/>
          </a:prstGeom>
          <a:noFill/>
          <a:ln/>
        </p:spPr>
        <p:txBody>
          <a:bodyPr wrap="square" lIns="0" tIns="0" rIns="0" bIns="0" rtlCol="0" anchor="ctr"/>
          <a:lstStyle/>
          <a:p>
            <a:pPr marL="0" indent="0" algn="r">
              <a:buNone/>
            </a:pPr>
            <a:r>
              <a:rPr lang="en-US" sz="930">
                <a:solidFill>
                  <a:srgbClr val="182230"/>
                </a:solidFill>
              </a:rPr>
              <a:t>Logistic reg.</a:t>
            </a:r>
            <a:endParaRPr lang="en-US" sz="930"/>
          </a:p>
        </p:txBody>
      </p:sp>
      <p:sp>
        <p:nvSpPr>
          <p:cNvPr id="20" name="Shape 18"/>
          <p:cNvSpPr/>
          <p:nvPr/>
        </p:nvSpPr>
        <p:spPr>
          <a:xfrm>
            <a:off x="2247392" y="4503928"/>
            <a:ext cx="5410200" cy="378968"/>
          </a:xfrm>
          <a:prstGeom prst="roundRect">
            <a:avLst>
              <a:gd name="adj" fmla="val 8511"/>
            </a:avLst>
          </a:prstGeom>
          <a:solidFill>
            <a:srgbClr val="EEF1F5"/>
          </a:solidFill>
          <a:ln w="12700">
            <a:solidFill>
              <a:srgbClr val="EEF1F5"/>
            </a:solidFill>
            <a:prstDash val="solid"/>
          </a:ln>
        </p:spPr>
        <p:txBody>
          <a:bodyPr/>
          <a:lstStyle/>
          <a:p>
            <a:endParaRPr lang="nl-NL"/>
          </a:p>
        </p:txBody>
      </p:sp>
      <p:sp>
        <p:nvSpPr>
          <p:cNvPr id="21" name="Shape 19"/>
          <p:cNvSpPr/>
          <p:nvPr/>
        </p:nvSpPr>
        <p:spPr>
          <a:xfrm>
            <a:off x="2267712" y="4453128"/>
            <a:ext cx="4686300" cy="429768"/>
          </a:xfrm>
          <a:prstGeom prst="roundRect">
            <a:avLst>
              <a:gd name="adj" fmla="val 8511"/>
            </a:avLst>
          </a:prstGeom>
          <a:solidFill>
            <a:srgbClr val="6F78F5"/>
          </a:solidFill>
          <a:ln w="12700">
            <a:solidFill>
              <a:srgbClr val="6F78F5"/>
            </a:solidFill>
            <a:prstDash val="solid"/>
          </a:ln>
        </p:spPr>
        <p:txBody>
          <a:bodyPr/>
          <a:lstStyle/>
          <a:p>
            <a:endParaRPr lang="nl-NL"/>
          </a:p>
        </p:txBody>
      </p:sp>
      <p:sp>
        <p:nvSpPr>
          <p:cNvPr id="22" name="Text 20"/>
          <p:cNvSpPr/>
          <p:nvPr/>
        </p:nvSpPr>
        <p:spPr>
          <a:xfrm>
            <a:off x="7018020" y="4507992"/>
            <a:ext cx="502920" cy="164592"/>
          </a:xfrm>
          <a:prstGeom prst="rect">
            <a:avLst/>
          </a:prstGeom>
          <a:noFill/>
          <a:ln/>
        </p:spPr>
        <p:txBody>
          <a:bodyPr wrap="square" lIns="0" tIns="0" rIns="0" bIns="0" rtlCol="0" anchor="ctr"/>
          <a:lstStyle/>
          <a:p>
            <a:pPr marL="0" indent="0">
              <a:buNone/>
            </a:pPr>
            <a:r>
              <a:rPr lang="en-US" sz="950" b="1">
                <a:solidFill>
                  <a:srgbClr val="0B1220"/>
                </a:solidFill>
              </a:rPr>
              <a:t>0.820</a:t>
            </a:r>
            <a:endParaRPr lang="en-US" sz="950"/>
          </a:p>
        </p:txBody>
      </p:sp>
      <p:sp>
        <p:nvSpPr>
          <p:cNvPr id="23" name="Text 21"/>
          <p:cNvSpPr/>
          <p:nvPr/>
        </p:nvSpPr>
        <p:spPr>
          <a:xfrm>
            <a:off x="859536" y="5276088"/>
            <a:ext cx="1234440" cy="164592"/>
          </a:xfrm>
          <a:prstGeom prst="rect">
            <a:avLst/>
          </a:prstGeom>
          <a:noFill/>
          <a:ln/>
        </p:spPr>
        <p:txBody>
          <a:bodyPr wrap="square" lIns="0" tIns="0" rIns="0" bIns="0" rtlCol="0" anchor="ctr"/>
          <a:lstStyle/>
          <a:p>
            <a:pPr marL="0" indent="0" algn="r">
              <a:buNone/>
            </a:pPr>
            <a:r>
              <a:rPr lang="en-US" sz="930" b="1">
                <a:solidFill>
                  <a:srgbClr val="12B8A6"/>
                </a:solidFill>
              </a:rPr>
              <a:t>Gradient boost.</a:t>
            </a:r>
            <a:endParaRPr lang="en-US" sz="930"/>
          </a:p>
        </p:txBody>
      </p:sp>
      <p:sp>
        <p:nvSpPr>
          <p:cNvPr id="24" name="Shape 22"/>
          <p:cNvSpPr/>
          <p:nvPr/>
        </p:nvSpPr>
        <p:spPr>
          <a:xfrm>
            <a:off x="2247392" y="5200904"/>
            <a:ext cx="5410200" cy="470408"/>
          </a:xfrm>
          <a:prstGeom prst="roundRect">
            <a:avLst>
              <a:gd name="adj" fmla="val 8511"/>
            </a:avLst>
          </a:prstGeom>
          <a:solidFill>
            <a:srgbClr val="EEF1F5"/>
          </a:solidFill>
          <a:ln w="12700">
            <a:solidFill>
              <a:srgbClr val="EEF1F5"/>
            </a:solidFill>
            <a:prstDash val="solid"/>
          </a:ln>
        </p:spPr>
        <p:txBody>
          <a:bodyPr/>
          <a:lstStyle/>
          <a:p>
            <a:endParaRPr lang="nl-NL"/>
          </a:p>
        </p:txBody>
      </p:sp>
      <p:sp>
        <p:nvSpPr>
          <p:cNvPr id="25" name="Shape 23"/>
          <p:cNvSpPr/>
          <p:nvPr/>
        </p:nvSpPr>
        <p:spPr>
          <a:xfrm>
            <a:off x="2267712" y="5221224"/>
            <a:ext cx="4829175" cy="429768"/>
          </a:xfrm>
          <a:prstGeom prst="roundRect">
            <a:avLst>
              <a:gd name="adj" fmla="val 8511"/>
            </a:avLst>
          </a:prstGeom>
          <a:solidFill>
            <a:srgbClr val="12B8A6"/>
          </a:solidFill>
          <a:ln w="12700">
            <a:solidFill>
              <a:srgbClr val="12B8A6"/>
            </a:solidFill>
            <a:prstDash val="solid"/>
          </a:ln>
        </p:spPr>
        <p:txBody>
          <a:bodyPr/>
          <a:lstStyle/>
          <a:p>
            <a:endParaRPr lang="nl-NL"/>
          </a:p>
        </p:txBody>
      </p:sp>
      <p:sp>
        <p:nvSpPr>
          <p:cNvPr id="26" name="Text 24"/>
          <p:cNvSpPr/>
          <p:nvPr/>
        </p:nvSpPr>
        <p:spPr>
          <a:xfrm>
            <a:off x="7160895" y="5276088"/>
            <a:ext cx="502920" cy="164592"/>
          </a:xfrm>
          <a:prstGeom prst="rect">
            <a:avLst/>
          </a:prstGeom>
          <a:noFill/>
          <a:ln/>
        </p:spPr>
        <p:txBody>
          <a:bodyPr wrap="square" lIns="0" tIns="0" rIns="0" bIns="0" rtlCol="0" anchor="ctr"/>
          <a:lstStyle/>
          <a:p>
            <a:pPr marL="0" indent="0">
              <a:buNone/>
            </a:pPr>
            <a:r>
              <a:rPr lang="en-US" sz="950" b="1">
                <a:solidFill>
                  <a:srgbClr val="12B8A6"/>
                </a:solidFill>
              </a:rPr>
              <a:t>0.845</a:t>
            </a:r>
            <a:endParaRPr lang="en-US" sz="950"/>
          </a:p>
        </p:txBody>
      </p:sp>
      <p:sp>
        <p:nvSpPr>
          <p:cNvPr id="27" name="Text 25"/>
          <p:cNvSpPr/>
          <p:nvPr/>
        </p:nvSpPr>
        <p:spPr>
          <a:xfrm>
            <a:off x="2240280" y="5669280"/>
            <a:ext cx="457200" cy="164592"/>
          </a:xfrm>
          <a:prstGeom prst="rect">
            <a:avLst/>
          </a:prstGeom>
          <a:noFill/>
          <a:ln/>
        </p:spPr>
        <p:txBody>
          <a:bodyPr wrap="square" lIns="0" tIns="0" rIns="0" bIns="0" rtlCol="0" anchor="ctr"/>
          <a:lstStyle/>
          <a:p>
            <a:pPr marL="0" indent="0">
              <a:buNone/>
            </a:pPr>
            <a:r>
              <a:rPr lang="en-US" sz="700">
                <a:solidFill>
                  <a:srgbClr val="667085"/>
                </a:solidFill>
              </a:rPr>
              <a:t>0.50</a:t>
            </a:r>
            <a:endParaRPr lang="en-US" sz="700"/>
          </a:p>
        </p:txBody>
      </p:sp>
      <p:sp>
        <p:nvSpPr>
          <p:cNvPr id="28" name="Text 26"/>
          <p:cNvSpPr/>
          <p:nvPr/>
        </p:nvSpPr>
        <p:spPr>
          <a:xfrm>
            <a:off x="7114032" y="5669280"/>
            <a:ext cx="457200" cy="164592"/>
          </a:xfrm>
          <a:prstGeom prst="rect">
            <a:avLst/>
          </a:prstGeom>
          <a:noFill/>
          <a:ln/>
        </p:spPr>
        <p:txBody>
          <a:bodyPr wrap="square" lIns="0" tIns="0" rIns="0" bIns="0" rtlCol="0" anchor="ctr"/>
          <a:lstStyle/>
          <a:p>
            <a:pPr marL="0" indent="0" algn="r">
              <a:buNone/>
            </a:pPr>
            <a:r>
              <a:rPr lang="en-US" sz="700">
                <a:solidFill>
                  <a:srgbClr val="667085"/>
                </a:solidFill>
              </a:rPr>
              <a:t>0.85</a:t>
            </a:r>
            <a:endParaRPr lang="en-US" sz="700"/>
          </a:p>
        </p:txBody>
      </p:sp>
      <p:sp>
        <p:nvSpPr>
          <p:cNvPr id="29" name="Shape 27"/>
          <p:cNvSpPr/>
          <p:nvPr/>
        </p:nvSpPr>
        <p:spPr>
          <a:xfrm>
            <a:off x="8001000" y="1417320"/>
            <a:ext cx="3611880" cy="4498848"/>
          </a:xfrm>
          <a:prstGeom prst="roundRect">
            <a:avLst>
              <a:gd name="adj" fmla="val 3038"/>
            </a:avLst>
          </a:prstGeom>
          <a:solidFill>
            <a:srgbClr val="0B1220"/>
          </a:solidFill>
          <a:ln w="12700">
            <a:solidFill>
              <a:srgbClr val="0B1220"/>
            </a:solidFill>
            <a:prstDash val="solid"/>
          </a:ln>
          <a:effectLst>
            <a:outerShdw blurRad="19050" dist="50800" dir="2700000" algn="bl" rotWithShape="0">
              <a:srgbClr val="BBC4D1">
                <a:alpha val="18000"/>
              </a:srgbClr>
            </a:outerShdw>
          </a:effectLst>
        </p:spPr>
        <p:txBody>
          <a:bodyPr/>
          <a:lstStyle/>
          <a:p>
            <a:endParaRPr lang="nl-NL"/>
          </a:p>
        </p:txBody>
      </p:sp>
      <p:sp>
        <p:nvSpPr>
          <p:cNvPr id="30" name="Shape 28"/>
          <p:cNvSpPr/>
          <p:nvPr/>
        </p:nvSpPr>
        <p:spPr>
          <a:xfrm>
            <a:off x="8302752" y="1719072"/>
            <a:ext cx="841248" cy="310896"/>
          </a:xfrm>
          <a:prstGeom prst="roundRect">
            <a:avLst>
              <a:gd name="adj" fmla="val 23529"/>
            </a:avLst>
          </a:prstGeom>
          <a:solidFill>
            <a:srgbClr val="243A37"/>
          </a:solidFill>
          <a:ln w="12700">
            <a:solidFill>
              <a:srgbClr val="243A37"/>
            </a:solidFill>
            <a:prstDash val="solid"/>
          </a:ln>
        </p:spPr>
        <p:txBody>
          <a:bodyPr/>
          <a:lstStyle/>
          <a:p>
            <a:endParaRPr lang="nl-NL"/>
          </a:p>
        </p:txBody>
      </p:sp>
      <p:sp>
        <p:nvSpPr>
          <p:cNvPr id="31" name="Text 29"/>
          <p:cNvSpPr/>
          <p:nvPr/>
        </p:nvSpPr>
        <p:spPr>
          <a:xfrm>
            <a:off x="8375904" y="1769364"/>
            <a:ext cx="694944" cy="182880"/>
          </a:xfrm>
          <a:prstGeom prst="rect">
            <a:avLst/>
          </a:prstGeom>
          <a:noFill/>
          <a:ln/>
        </p:spPr>
        <p:txBody>
          <a:bodyPr wrap="square" lIns="0" tIns="0" rIns="0" bIns="0" rtlCol="0" anchor="ctr"/>
          <a:lstStyle/>
          <a:p>
            <a:pPr marL="0" indent="0" algn="ctr">
              <a:buNone/>
            </a:pPr>
            <a:r>
              <a:rPr lang="en-US" sz="840" b="1">
                <a:solidFill>
                  <a:srgbClr val="84E8D3"/>
                </a:solidFill>
              </a:rPr>
              <a:t>WINNER</a:t>
            </a:r>
            <a:endParaRPr lang="en-US" sz="840"/>
          </a:p>
        </p:txBody>
      </p:sp>
      <p:sp>
        <p:nvSpPr>
          <p:cNvPr id="32" name="Text 30"/>
          <p:cNvSpPr/>
          <p:nvPr/>
        </p:nvSpPr>
        <p:spPr>
          <a:xfrm>
            <a:off x="8302752" y="2240280"/>
            <a:ext cx="2651760" cy="822960"/>
          </a:xfrm>
          <a:prstGeom prst="rect">
            <a:avLst/>
          </a:prstGeom>
          <a:noFill/>
          <a:ln/>
        </p:spPr>
        <p:txBody>
          <a:bodyPr wrap="square" lIns="0" tIns="0" rIns="0" bIns="0" rtlCol="0" anchor="ctr"/>
          <a:lstStyle/>
          <a:p>
            <a:pPr marL="0" indent="0">
              <a:buNone/>
            </a:pPr>
            <a:r>
              <a:rPr lang="en-US" sz="2600" b="1">
                <a:solidFill>
                  <a:srgbClr val="FFFFFF"/>
                </a:solidFill>
              </a:rPr>
              <a:t>Gradient</a:t>
            </a:r>
            <a:endParaRPr lang="en-US" sz="2600"/>
          </a:p>
          <a:p>
            <a:pPr marL="0" indent="0">
              <a:buNone/>
            </a:pPr>
            <a:r>
              <a:rPr lang="en-US" sz="2600" b="1">
                <a:solidFill>
                  <a:srgbClr val="FFFFFF"/>
                </a:solidFill>
              </a:rPr>
              <a:t>Boosting</a:t>
            </a:r>
            <a:endParaRPr lang="en-US" sz="2600"/>
          </a:p>
        </p:txBody>
      </p:sp>
      <p:sp>
        <p:nvSpPr>
          <p:cNvPr id="33" name="Text 31"/>
          <p:cNvSpPr/>
          <p:nvPr/>
        </p:nvSpPr>
        <p:spPr>
          <a:xfrm>
            <a:off x="8321040" y="3108960"/>
            <a:ext cx="2651760" cy="320040"/>
          </a:xfrm>
          <a:prstGeom prst="rect">
            <a:avLst/>
          </a:prstGeom>
          <a:noFill/>
          <a:ln/>
        </p:spPr>
        <p:txBody>
          <a:bodyPr wrap="square" lIns="0" tIns="0" rIns="0" bIns="0" rtlCol="0" anchor="ctr"/>
          <a:lstStyle/>
          <a:p>
            <a:pPr marL="0" indent="0">
              <a:buNone/>
            </a:pPr>
            <a:r>
              <a:rPr lang="en-US" sz="920">
                <a:solidFill>
                  <a:srgbClr val="BFC7D8"/>
                </a:solidFill>
              </a:rPr>
              <a:t>learning_rate = 0.1 · max_depth = 4</a:t>
            </a:r>
            <a:endParaRPr lang="en-US" sz="920"/>
          </a:p>
        </p:txBody>
      </p:sp>
      <p:sp>
        <p:nvSpPr>
          <p:cNvPr id="34" name="Text 32"/>
          <p:cNvSpPr/>
          <p:nvPr/>
        </p:nvSpPr>
        <p:spPr>
          <a:xfrm>
            <a:off x="8321040" y="3675888"/>
            <a:ext cx="868680" cy="155448"/>
          </a:xfrm>
          <a:prstGeom prst="rect">
            <a:avLst/>
          </a:prstGeom>
          <a:noFill/>
          <a:ln/>
        </p:spPr>
        <p:txBody>
          <a:bodyPr wrap="square" lIns="0" tIns="0" rIns="0" bIns="0" rtlCol="0" anchor="ctr"/>
          <a:lstStyle/>
          <a:p>
            <a:pPr marL="0" indent="0">
              <a:buNone/>
            </a:pPr>
            <a:r>
              <a:rPr lang="en-US" sz="760" b="1">
                <a:solidFill>
                  <a:srgbClr val="7F8AA0"/>
                </a:solidFill>
              </a:rPr>
              <a:t>CV</a:t>
            </a:r>
            <a:endParaRPr lang="en-US" sz="760"/>
          </a:p>
        </p:txBody>
      </p:sp>
      <p:sp>
        <p:nvSpPr>
          <p:cNvPr id="35" name="Text 33"/>
          <p:cNvSpPr/>
          <p:nvPr/>
        </p:nvSpPr>
        <p:spPr>
          <a:xfrm>
            <a:off x="9464040" y="3648456"/>
            <a:ext cx="1508760" cy="201168"/>
          </a:xfrm>
          <a:prstGeom prst="rect">
            <a:avLst/>
          </a:prstGeom>
          <a:noFill/>
          <a:ln/>
        </p:spPr>
        <p:txBody>
          <a:bodyPr wrap="square" lIns="0" tIns="0" rIns="0" bIns="0" rtlCol="0" anchor="ctr"/>
          <a:lstStyle/>
          <a:p>
            <a:pPr marL="0" indent="0" algn="r">
              <a:buNone/>
            </a:pPr>
            <a:r>
              <a:rPr lang="en-US" sz="1150" b="1">
                <a:solidFill>
                  <a:srgbClr val="8EE5D4"/>
                </a:solidFill>
              </a:rPr>
              <a:t>0.843 ± 0.008</a:t>
            </a:r>
            <a:endParaRPr lang="en-US" sz="1150"/>
          </a:p>
        </p:txBody>
      </p:sp>
      <p:sp>
        <p:nvSpPr>
          <p:cNvPr id="36" name="Text 34"/>
          <p:cNvSpPr/>
          <p:nvPr/>
        </p:nvSpPr>
        <p:spPr>
          <a:xfrm>
            <a:off x="8321040" y="4133088"/>
            <a:ext cx="868680" cy="155448"/>
          </a:xfrm>
          <a:prstGeom prst="rect">
            <a:avLst/>
          </a:prstGeom>
          <a:noFill/>
          <a:ln/>
        </p:spPr>
        <p:txBody>
          <a:bodyPr wrap="square" lIns="0" tIns="0" rIns="0" bIns="0" rtlCol="0" anchor="ctr"/>
          <a:lstStyle/>
          <a:p>
            <a:pPr marL="0" indent="0">
              <a:buNone/>
            </a:pPr>
            <a:r>
              <a:rPr lang="en-US" sz="760" b="1">
                <a:solidFill>
                  <a:srgbClr val="7F8AA0"/>
                </a:solidFill>
              </a:rPr>
              <a:t>TEST</a:t>
            </a:r>
            <a:endParaRPr lang="en-US" sz="760"/>
          </a:p>
        </p:txBody>
      </p:sp>
      <p:sp>
        <p:nvSpPr>
          <p:cNvPr id="37" name="Text 35"/>
          <p:cNvSpPr/>
          <p:nvPr/>
        </p:nvSpPr>
        <p:spPr>
          <a:xfrm>
            <a:off x="9464040" y="4105656"/>
            <a:ext cx="1508760" cy="201168"/>
          </a:xfrm>
          <a:prstGeom prst="rect">
            <a:avLst/>
          </a:prstGeom>
          <a:noFill/>
          <a:ln/>
        </p:spPr>
        <p:txBody>
          <a:bodyPr wrap="square" lIns="0" tIns="0" rIns="0" bIns="0" rtlCol="0" anchor="ctr"/>
          <a:lstStyle/>
          <a:p>
            <a:pPr marL="0" indent="0" algn="r">
              <a:buNone/>
            </a:pPr>
            <a:r>
              <a:rPr lang="en-US" sz="1150" b="1">
                <a:solidFill>
                  <a:srgbClr val="8EE5D4"/>
                </a:solidFill>
              </a:rPr>
              <a:t>0.845</a:t>
            </a:r>
            <a:endParaRPr lang="en-US" sz="1150"/>
          </a:p>
        </p:txBody>
      </p:sp>
      <p:sp>
        <p:nvSpPr>
          <p:cNvPr id="38" name="Text 36"/>
          <p:cNvSpPr/>
          <p:nvPr/>
        </p:nvSpPr>
        <p:spPr>
          <a:xfrm>
            <a:off x="8321040" y="4590288"/>
            <a:ext cx="868680" cy="155448"/>
          </a:xfrm>
          <a:prstGeom prst="rect">
            <a:avLst/>
          </a:prstGeom>
          <a:noFill/>
          <a:ln/>
        </p:spPr>
        <p:txBody>
          <a:bodyPr wrap="square" lIns="0" tIns="0" rIns="0" bIns="0" rtlCol="0" anchor="ctr"/>
          <a:lstStyle/>
          <a:p>
            <a:pPr marL="0" indent="0">
              <a:buNone/>
            </a:pPr>
            <a:r>
              <a:rPr lang="en-US" sz="760" b="1">
                <a:solidFill>
                  <a:srgbClr val="7F8AA0"/>
                </a:solidFill>
              </a:rPr>
              <a:t>PRECISION</a:t>
            </a:r>
            <a:endParaRPr lang="en-US" sz="760"/>
          </a:p>
        </p:txBody>
      </p:sp>
      <p:sp>
        <p:nvSpPr>
          <p:cNvPr id="39" name="Text 37"/>
          <p:cNvSpPr/>
          <p:nvPr/>
        </p:nvSpPr>
        <p:spPr>
          <a:xfrm>
            <a:off x="9464040" y="4562856"/>
            <a:ext cx="1508760" cy="201168"/>
          </a:xfrm>
          <a:prstGeom prst="rect">
            <a:avLst/>
          </a:prstGeom>
          <a:noFill/>
          <a:ln/>
        </p:spPr>
        <p:txBody>
          <a:bodyPr wrap="square" lIns="0" tIns="0" rIns="0" bIns="0" rtlCol="0" anchor="ctr"/>
          <a:lstStyle/>
          <a:p>
            <a:pPr marL="0" indent="0" algn="r">
              <a:buNone/>
            </a:pPr>
            <a:r>
              <a:rPr lang="en-US" sz="1150" b="1">
                <a:solidFill>
                  <a:srgbClr val="FFFFFF"/>
                </a:solidFill>
              </a:rPr>
              <a:t>0.951</a:t>
            </a:r>
            <a:endParaRPr lang="en-US" sz="1150"/>
          </a:p>
        </p:txBody>
      </p:sp>
      <p:sp>
        <p:nvSpPr>
          <p:cNvPr id="40" name="Text 38"/>
          <p:cNvSpPr/>
          <p:nvPr/>
        </p:nvSpPr>
        <p:spPr>
          <a:xfrm>
            <a:off x="8321040" y="5047488"/>
            <a:ext cx="868680" cy="155448"/>
          </a:xfrm>
          <a:prstGeom prst="rect">
            <a:avLst/>
          </a:prstGeom>
          <a:noFill/>
          <a:ln/>
        </p:spPr>
        <p:txBody>
          <a:bodyPr wrap="square" lIns="0" tIns="0" rIns="0" bIns="0" rtlCol="0" anchor="ctr"/>
          <a:lstStyle/>
          <a:p>
            <a:pPr marL="0" indent="0">
              <a:buNone/>
            </a:pPr>
            <a:r>
              <a:rPr lang="en-US" sz="760" b="1">
                <a:solidFill>
                  <a:srgbClr val="7F8AA0"/>
                </a:solidFill>
              </a:rPr>
              <a:t>RECALL</a:t>
            </a:r>
            <a:endParaRPr lang="en-US" sz="760"/>
          </a:p>
        </p:txBody>
      </p:sp>
      <p:sp>
        <p:nvSpPr>
          <p:cNvPr id="41" name="Text 39"/>
          <p:cNvSpPr/>
          <p:nvPr/>
        </p:nvSpPr>
        <p:spPr>
          <a:xfrm>
            <a:off x="9464040" y="5020056"/>
            <a:ext cx="1508760" cy="201168"/>
          </a:xfrm>
          <a:prstGeom prst="rect">
            <a:avLst/>
          </a:prstGeom>
          <a:noFill/>
          <a:ln/>
        </p:spPr>
        <p:txBody>
          <a:bodyPr wrap="square" lIns="0" tIns="0" rIns="0" bIns="0" rtlCol="0" anchor="ctr"/>
          <a:lstStyle/>
          <a:p>
            <a:pPr marL="0" indent="0" algn="r">
              <a:buNone/>
            </a:pPr>
            <a:r>
              <a:rPr lang="en-US" sz="1150" b="1">
                <a:solidFill>
                  <a:srgbClr val="FFFFFF"/>
                </a:solidFill>
              </a:rPr>
              <a:t>0.824</a:t>
            </a:r>
            <a:endParaRPr lang="en-US" sz="1150"/>
          </a:p>
        </p:txBody>
      </p:sp>
      <p:sp>
        <p:nvSpPr>
          <p:cNvPr id="42" name="Text 40"/>
          <p:cNvSpPr/>
          <p:nvPr/>
        </p:nvSpPr>
        <p:spPr>
          <a:xfrm>
            <a:off x="8302752" y="5559552"/>
            <a:ext cx="2761488" cy="384048"/>
          </a:xfrm>
          <a:prstGeom prst="rect">
            <a:avLst/>
          </a:prstGeom>
          <a:noFill/>
          <a:ln/>
        </p:spPr>
        <p:txBody>
          <a:bodyPr wrap="square" lIns="0" tIns="0" rIns="0" bIns="0" rtlCol="0" anchor="ctr"/>
          <a:lstStyle/>
          <a:p>
            <a:pPr marL="0" indent="0">
              <a:buNone/>
            </a:pPr>
            <a:r>
              <a:rPr lang="en-US" sz="920">
                <a:solidFill>
                  <a:srgbClr val="CFD6E2"/>
                </a:solidFill>
              </a:rPr>
              <a:t>It clearly beats the dummy and the simple rule, while test and CV stay close.</a:t>
            </a:r>
            <a:endParaRPr lang="en-US" sz="920"/>
          </a:p>
        </p:txBody>
      </p:sp>
      <p:sp>
        <p:nvSpPr>
          <p:cNvPr id="43" name="Text 41"/>
          <p:cNvSpPr/>
          <p:nvPr/>
        </p:nvSpPr>
        <p:spPr>
          <a:xfrm>
            <a:off x="566928" y="6336792"/>
            <a:ext cx="10561320" cy="137160"/>
          </a:xfrm>
          <a:prstGeom prst="rect">
            <a:avLst/>
          </a:prstGeom>
          <a:noFill/>
          <a:ln/>
        </p:spPr>
        <p:txBody>
          <a:bodyPr wrap="square" lIns="0" tIns="0" rIns="0" bIns="0" rtlCol="0" anchor="ctr"/>
          <a:lstStyle/>
          <a:p>
            <a:pPr marL="0" indent="0">
              <a:buNone/>
            </a:pPr>
            <a:r>
              <a:rPr lang="en-US" sz="650">
                <a:solidFill>
                  <a:srgbClr val="8A94A6"/>
                </a:solidFill>
              </a:rPr>
              <a:t>Project comparison table: 5-fold stratified CV; test set used once at the end.</a:t>
            </a:r>
            <a:endParaRPr lang="en-US" sz="650"/>
          </a:p>
        </p:txBody>
      </p:sp>
      <p:sp>
        <p:nvSpPr>
          <p:cNvPr id="44"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384048"/>
            <a:ext cx="8138160" cy="457200"/>
          </a:xfrm>
          <a:prstGeom prst="rect">
            <a:avLst/>
          </a:prstGeom>
          <a:noFill/>
          <a:ln/>
        </p:spPr>
        <p:txBody>
          <a:bodyPr wrap="square" lIns="0" tIns="0" rIns="0" bIns="0" rtlCol="0" anchor="ctr"/>
          <a:lstStyle/>
          <a:p>
            <a:pPr marL="0" indent="0">
              <a:buNone/>
            </a:pPr>
            <a:r>
              <a:rPr lang="en-US" sz="2700" b="1">
                <a:solidFill>
                  <a:srgbClr val="0B1220"/>
                </a:solidFill>
                <a:latin typeface="Aptos Display" pitchFamily="34" charset="0"/>
                <a:ea typeface="Aptos Display" pitchFamily="34" charset="-122"/>
                <a:cs typeface="Aptos Display" pitchFamily="34" charset="-120"/>
              </a:rPr>
              <a:t>Why we recommend Gradient Boosting</a:t>
            </a:r>
            <a:endParaRPr lang="en-US" sz="2700"/>
          </a:p>
        </p:txBody>
      </p:sp>
      <p:sp>
        <p:nvSpPr>
          <p:cNvPr id="3" name="Text 1"/>
          <p:cNvSpPr/>
          <p:nvPr/>
        </p:nvSpPr>
        <p:spPr>
          <a:xfrm>
            <a:off x="548640" y="859536"/>
            <a:ext cx="9966960" cy="256032"/>
          </a:xfrm>
          <a:prstGeom prst="rect">
            <a:avLst/>
          </a:prstGeom>
          <a:noFill/>
          <a:ln/>
        </p:spPr>
        <p:txBody>
          <a:bodyPr wrap="square" lIns="0" tIns="0" rIns="0" bIns="0" rtlCol="0" anchor="ctr"/>
          <a:lstStyle/>
          <a:p>
            <a:pPr marL="0" indent="0">
              <a:buNone/>
            </a:pPr>
            <a:r>
              <a:rPr lang="en-US" sz="1050">
                <a:solidFill>
                  <a:srgbClr val="667085"/>
                </a:solidFill>
              </a:rPr>
              <a:t>Best overall trade-off for a 500-visit budget</a:t>
            </a:r>
            <a:endParaRPr lang="en-US" sz="1050"/>
          </a:p>
        </p:txBody>
      </p:sp>
      <p:sp>
        <p:nvSpPr>
          <p:cNvPr id="4" name="Shape 2"/>
          <p:cNvSpPr/>
          <p:nvPr/>
        </p:nvSpPr>
        <p:spPr>
          <a:xfrm>
            <a:off x="530352" y="1152144"/>
            <a:ext cx="11109960" cy="0"/>
          </a:xfrm>
          <a:prstGeom prst="line">
            <a:avLst/>
          </a:prstGeom>
          <a:noFill/>
          <a:ln w="12700">
            <a:solidFill>
              <a:srgbClr val="DFE4EC"/>
            </a:solidFill>
            <a:prstDash val="solid"/>
          </a:ln>
        </p:spPr>
        <p:txBody>
          <a:bodyPr/>
          <a:lstStyle/>
          <a:p>
            <a:endParaRPr lang="nl-NL"/>
          </a:p>
        </p:txBody>
      </p:sp>
      <p:sp>
        <p:nvSpPr>
          <p:cNvPr id="5" name="Shape 3"/>
          <p:cNvSpPr/>
          <p:nvPr/>
        </p:nvSpPr>
        <p:spPr>
          <a:xfrm>
            <a:off x="566928" y="1417320"/>
            <a:ext cx="2057400" cy="1051560"/>
          </a:xfrm>
          <a:prstGeom prst="roundRect">
            <a:avLst>
              <a:gd name="adj" fmla="val 10435"/>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6" name="Text 4"/>
          <p:cNvSpPr/>
          <p:nvPr/>
        </p:nvSpPr>
        <p:spPr>
          <a:xfrm>
            <a:off x="713232" y="1545336"/>
            <a:ext cx="1764792" cy="164592"/>
          </a:xfrm>
          <a:prstGeom prst="rect">
            <a:avLst/>
          </a:prstGeom>
          <a:noFill/>
          <a:ln/>
        </p:spPr>
        <p:txBody>
          <a:bodyPr wrap="square" lIns="0" tIns="0" rIns="0" bIns="0" rtlCol="0" anchor="ctr"/>
          <a:lstStyle/>
          <a:p>
            <a:pPr marL="0" indent="0">
              <a:buNone/>
            </a:pPr>
            <a:r>
              <a:rPr lang="en-US" sz="730" b="1" kern="0" spc="60">
                <a:solidFill>
                  <a:srgbClr val="667085"/>
                </a:solidFill>
              </a:rPr>
              <a:t>BALANCED ACCURACY</a:t>
            </a:r>
            <a:endParaRPr lang="en-US" sz="730"/>
          </a:p>
        </p:txBody>
      </p:sp>
      <p:sp>
        <p:nvSpPr>
          <p:cNvPr id="7" name="Text 5"/>
          <p:cNvSpPr/>
          <p:nvPr/>
        </p:nvSpPr>
        <p:spPr>
          <a:xfrm>
            <a:off x="713232" y="1755648"/>
            <a:ext cx="1764792" cy="347472"/>
          </a:xfrm>
          <a:prstGeom prst="rect">
            <a:avLst/>
          </a:prstGeom>
          <a:noFill/>
          <a:ln/>
        </p:spPr>
        <p:txBody>
          <a:bodyPr wrap="square" lIns="0" tIns="0" rIns="0" bIns="0" rtlCol="0" anchor="ctr"/>
          <a:lstStyle/>
          <a:p>
            <a:pPr marL="0" indent="0">
              <a:buNone/>
            </a:pPr>
            <a:r>
              <a:rPr lang="en-US" sz="2400" b="1">
                <a:solidFill>
                  <a:srgbClr val="12B8A6"/>
                </a:solidFill>
              </a:rPr>
              <a:t>0.845</a:t>
            </a:r>
            <a:endParaRPr lang="en-US" sz="2400"/>
          </a:p>
        </p:txBody>
      </p:sp>
      <p:sp>
        <p:nvSpPr>
          <p:cNvPr id="8" name="Text 6"/>
          <p:cNvSpPr/>
          <p:nvPr/>
        </p:nvSpPr>
        <p:spPr>
          <a:xfrm>
            <a:off x="713232" y="2167128"/>
            <a:ext cx="1783080" cy="155448"/>
          </a:xfrm>
          <a:prstGeom prst="rect">
            <a:avLst/>
          </a:prstGeom>
          <a:noFill/>
          <a:ln/>
        </p:spPr>
        <p:txBody>
          <a:bodyPr wrap="square" lIns="0" tIns="0" rIns="0" bIns="0" rtlCol="0" anchor="ctr"/>
          <a:lstStyle/>
          <a:p>
            <a:pPr marL="0" indent="0">
              <a:buNone/>
            </a:pPr>
            <a:r>
              <a:rPr lang="en-US" sz="750">
                <a:solidFill>
                  <a:srgbClr val="667085"/>
                </a:solidFill>
              </a:rPr>
              <a:t>test set</a:t>
            </a:r>
            <a:endParaRPr lang="en-US" sz="750"/>
          </a:p>
        </p:txBody>
      </p:sp>
      <p:sp>
        <p:nvSpPr>
          <p:cNvPr id="9" name="Shape 7"/>
          <p:cNvSpPr/>
          <p:nvPr/>
        </p:nvSpPr>
        <p:spPr>
          <a:xfrm>
            <a:off x="2788920" y="1417320"/>
            <a:ext cx="2057400" cy="1051560"/>
          </a:xfrm>
          <a:prstGeom prst="roundRect">
            <a:avLst>
              <a:gd name="adj" fmla="val 10435"/>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0" name="Text 8"/>
          <p:cNvSpPr/>
          <p:nvPr/>
        </p:nvSpPr>
        <p:spPr>
          <a:xfrm>
            <a:off x="2935224" y="1545336"/>
            <a:ext cx="1764792" cy="164592"/>
          </a:xfrm>
          <a:prstGeom prst="rect">
            <a:avLst/>
          </a:prstGeom>
          <a:noFill/>
          <a:ln/>
        </p:spPr>
        <p:txBody>
          <a:bodyPr wrap="square" lIns="0" tIns="0" rIns="0" bIns="0" rtlCol="0" anchor="ctr"/>
          <a:lstStyle/>
          <a:p>
            <a:pPr marL="0" indent="0">
              <a:buNone/>
            </a:pPr>
            <a:r>
              <a:rPr lang="en-US" sz="730" b="1" kern="0" spc="60">
                <a:solidFill>
                  <a:srgbClr val="667085"/>
                </a:solidFill>
              </a:rPr>
              <a:t>PRECISION</a:t>
            </a:r>
            <a:endParaRPr lang="en-US" sz="730"/>
          </a:p>
        </p:txBody>
      </p:sp>
      <p:sp>
        <p:nvSpPr>
          <p:cNvPr id="11" name="Text 9"/>
          <p:cNvSpPr/>
          <p:nvPr/>
        </p:nvSpPr>
        <p:spPr>
          <a:xfrm>
            <a:off x="2935224" y="1755648"/>
            <a:ext cx="1764792" cy="347472"/>
          </a:xfrm>
          <a:prstGeom prst="rect">
            <a:avLst/>
          </a:prstGeom>
          <a:noFill/>
          <a:ln/>
        </p:spPr>
        <p:txBody>
          <a:bodyPr wrap="square" lIns="0" tIns="0" rIns="0" bIns="0" rtlCol="0" anchor="ctr"/>
          <a:lstStyle/>
          <a:p>
            <a:pPr marL="0" indent="0">
              <a:buNone/>
            </a:pPr>
            <a:r>
              <a:rPr lang="en-US" sz="2400" b="1">
                <a:solidFill>
                  <a:srgbClr val="5B5FEF"/>
                </a:solidFill>
              </a:rPr>
              <a:t>0.951</a:t>
            </a:r>
            <a:endParaRPr lang="en-US" sz="2400"/>
          </a:p>
        </p:txBody>
      </p:sp>
      <p:sp>
        <p:nvSpPr>
          <p:cNvPr id="12" name="Text 10"/>
          <p:cNvSpPr/>
          <p:nvPr/>
        </p:nvSpPr>
        <p:spPr>
          <a:xfrm>
            <a:off x="2935224" y="2167128"/>
            <a:ext cx="1783080" cy="155448"/>
          </a:xfrm>
          <a:prstGeom prst="rect">
            <a:avLst/>
          </a:prstGeom>
          <a:noFill/>
          <a:ln/>
        </p:spPr>
        <p:txBody>
          <a:bodyPr wrap="square" lIns="0" tIns="0" rIns="0" bIns="0" rtlCol="0" anchor="ctr"/>
          <a:lstStyle/>
          <a:p>
            <a:pPr marL="0" indent="0">
              <a:buNone/>
            </a:pPr>
            <a:r>
              <a:rPr lang="en-US" sz="750">
                <a:solidFill>
                  <a:srgbClr val="667085"/>
                </a:solidFill>
              </a:rPr>
              <a:t>low-income class</a:t>
            </a:r>
            <a:endParaRPr lang="en-US" sz="750"/>
          </a:p>
        </p:txBody>
      </p:sp>
      <p:sp>
        <p:nvSpPr>
          <p:cNvPr id="13" name="Shape 11"/>
          <p:cNvSpPr/>
          <p:nvPr/>
        </p:nvSpPr>
        <p:spPr>
          <a:xfrm>
            <a:off x="5010912" y="1417320"/>
            <a:ext cx="2057400" cy="1051560"/>
          </a:xfrm>
          <a:prstGeom prst="roundRect">
            <a:avLst>
              <a:gd name="adj" fmla="val 10435"/>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4" name="Text 12"/>
          <p:cNvSpPr/>
          <p:nvPr/>
        </p:nvSpPr>
        <p:spPr>
          <a:xfrm>
            <a:off x="5157216" y="1545336"/>
            <a:ext cx="1764792" cy="164592"/>
          </a:xfrm>
          <a:prstGeom prst="rect">
            <a:avLst/>
          </a:prstGeom>
          <a:noFill/>
          <a:ln/>
        </p:spPr>
        <p:txBody>
          <a:bodyPr wrap="square" lIns="0" tIns="0" rIns="0" bIns="0" rtlCol="0" anchor="ctr"/>
          <a:lstStyle/>
          <a:p>
            <a:pPr marL="0" indent="0">
              <a:buNone/>
            </a:pPr>
            <a:r>
              <a:rPr lang="en-US" sz="730" b="1" kern="0" spc="60">
                <a:solidFill>
                  <a:srgbClr val="667085"/>
                </a:solidFill>
              </a:rPr>
              <a:t>RECALL</a:t>
            </a:r>
            <a:endParaRPr lang="en-US" sz="730"/>
          </a:p>
        </p:txBody>
      </p:sp>
      <p:sp>
        <p:nvSpPr>
          <p:cNvPr id="15" name="Text 13"/>
          <p:cNvSpPr/>
          <p:nvPr/>
        </p:nvSpPr>
        <p:spPr>
          <a:xfrm>
            <a:off x="5157216" y="1755648"/>
            <a:ext cx="1764792" cy="347472"/>
          </a:xfrm>
          <a:prstGeom prst="rect">
            <a:avLst/>
          </a:prstGeom>
          <a:noFill/>
          <a:ln/>
        </p:spPr>
        <p:txBody>
          <a:bodyPr wrap="square" lIns="0" tIns="0" rIns="0" bIns="0" rtlCol="0" anchor="ctr"/>
          <a:lstStyle/>
          <a:p>
            <a:pPr marL="0" indent="0">
              <a:buNone/>
            </a:pPr>
            <a:r>
              <a:rPr lang="en-US" sz="2400" b="1">
                <a:solidFill>
                  <a:srgbClr val="F59E0B"/>
                </a:solidFill>
              </a:rPr>
              <a:t>0.824</a:t>
            </a:r>
            <a:endParaRPr lang="en-US" sz="2400"/>
          </a:p>
        </p:txBody>
      </p:sp>
      <p:sp>
        <p:nvSpPr>
          <p:cNvPr id="16" name="Text 14"/>
          <p:cNvSpPr/>
          <p:nvPr/>
        </p:nvSpPr>
        <p:spPr>
          <a:xfrm>
            <a:off x="5157216" y="2167128"/>
            <a:ext cx="1783080" cy="155448"/>
          </a:xfrm>
          <a:prstGeom prst="rect">
            <a:avLst/>
          </a:prstGeom>
          <a:noFill/>
          <a:ln/>
        </p:spPr>
        <p:txBody>
          <a:bodyPr wrap="square" lIns="0" tIns="0" rIns="0" bIns="0" rtlCol="0" anchor="ctr"/>
          <a:lstStyle/>
          <a:p>
            <a:pPr marL="0" indent="0">
              <a:buNone/>
            </a:pPr>
            <a:r>
              <a:rPr lang="en-US" sz="750">
                <a:solidFill>
                  <a:srgbClr val="667085"/>
                </a:solidFill>
              </a:rPr>
              <a:t>low-income class</a:t>
            </a:r>
            <a:endParaRPr lang="en-US" sz="750"/>
          </a:p>
        </p:txBody>
      </p:sp>
      <p:sp>
        <p:nvSpPr>
          <p:cNvPr id="17" name="Shape 15"/>
          <p:cNvSpPr/>
          <p:nvPr/>
        </p:nvSpPr>
        <p:spPr>
          <a:xfrm>
            <a:off x="566928" y="2697480"/>
            <a:ext cx="6501384" cy="3154680"/>
          </a:xfrm>
          <a:prstGeom prst="roundRect">
            <a:avLst>
              <a:gd name="adj" fmla="val 3478"/>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8" name="Text 16"/>
          <p:cNvSpPr/>
          <p:nvPr/>
        </p:nvSpPr>
        <p:spPr>
          <a:xfrm>
            <a:off x="859536" y="2926080"/>
            <a:ext cx="2834640" cy="228600"/>
          </a:xfrm>
          <a:prstGeom prst="rect">
            <a:avLst/>
          </a:prstGeom>
          <a:noFill/>
          <a:ln/>
        </p:spPr>
        <p:txBody>
          <a:bodyPr wrap="square" lIns="0" tIns="0" rIns="0" bIns="0" rtlCol="0" anchor="ctr"/>
          <a:lstStyle/>
          <a:p>
            <a:pPr marL="0" indent="0">
              <a:buNone/>
            </a:pPr>
            <a:r>
              <a:rPr lang="en-US" sz="1300" b="1">
                <a:solidFill>
                  <a:srgbClr val="0B1220"/>
                </a:solidFill>
              </a:rPr>
              <a:t>Confusion matrix — 6,508 test cases</a:t>
            </a:r>
            <a:endParaRPr lang="en-US" sz="1300"/>
          </a:p>
        </p:txBody>
      </p:sp>
      <p:sp>
        <p:nvSpPr>
          <p:cNvPr id="19" name="Text 17"/>
          <p:cNvSpPr/>
          <p:nvPr/>
        </p:nvSpPr>
        <p:spPr>
          <a:xfrm>
            <a:off x="2880360" y="3246120"/>
            <a:ext cx="2286000" cy="146304"/>
          </a:xfrm>
          <a:prstGeom prst="rect">
            <a:avLst/>
          </a:prstGeom>
          <a:noFill/>
          <a:ln/>
        </p:spPr>
        <p:txBody>
          <a:bodyPr wrap="square" lIns="0" tIns="0" rIns="0" bIns="0" rtlCol="0" anchor="ctr"/>
          <a:lstStyle/>
          <a:p>
            <a:pPr marL="0" indent="0" algn="ctr">
              <a:buNone/>
            </a:pPr>
            <a:r>
              <a:rPr lang="en-US" sz="720" b="1" kern="0" spc="80">
                <a:solidFill>
                  <a:srgbClr val="667085"/>
                </a:solidFill>
              </a:rPr>
              <a:t>PREDICTED</a:t>
            </a:r>
            <a:endParaRPr lang="en-US" sz="720"/>
          </a:p>
        </p:txBody>
      </p:sp>
      <p:sp>
        <p:nvSpPr>
          <p:cNvPr id="20" name="Text 18"/>
          <p:cNvSpPr/>
          <p:nvPr/>
        </p:nvSpPr>
        <p:spPr>
          <a:xfrm>
            <a:off x="2331720" y="3364992"/>
            <a:ext cx="1417320" cy="164592"/>
          </a:xfrm>
          <a:prstGeom prst="rect">
            <a:avLst/>
          </a:prstGeom>
          <a:noFill/>
          <a:ln/>
        </p:spPr>
        <p:txBody>
          <a:bodyPr wrap="square" lIns="0" tIns="0" rIns="0" bIns="0" rtlCol="0" anchor="ctr"/>
          <a:lstStyle/>
          <a:p>
            <a:pPr marL="0" indent="0" algn="ctr">
              <a:buNone/>
            </a:pPr>
            <a:r>
              <a:rPr lang="en-US" sz="800" b="1">
                <a:solidFill>
                  <a:srgbClr val="667085"/>
                </a:solidFill>
              </a:rPr>
              <a:t>&gt;50K</a:t>
            </a:r>
            <a:endParaRPr lang="en-US" sz="800"/>
          </a:p>
        </p:txBody>
      </p:sp>
      <p:sp>
        <p:nvSpPr>
          <p:cNvPr id="21" name="Text 19"/>
          <p:cNvSpPr/>
          <p:nvPr/>
        </p:nvSpPr>
        <p:spPr>
          <a:xfrm>
            <a:off x="3749040" y="3364992"/>
            <a:ext cx="1417320" cy="164592"/>
          </a:xfrm>
          <a:prstGeom prst="rect">
            <a:avLst/>
          </a:prstGeom>
          <a:noFill/>
          <a:ln/>
        </p:spPr>
        <p:txBody>
          <a:bodyPr wrap="square" lIns="0" tIns="0" rIns="0" bIns="0" rtlCol="0" anchor="ctr"/>
          <a:lstStyle/>
          <a:p>
            <a:pPr marL="0" indent="0" algn="ctr">
              <a:buNone/>
            </a:pPr>
            <a:r>
              <a:rPr lang="en-US" sz="800" b="1">
                <a:solidFill>
                  <a:srgbClr val="667085"/>
                </a:solidFill>
              </a:rPr>
              <a:t>≤50K</a:t>
            </a:r>
            <a:endParaRPr lang="en-US" sz="800"/>
          </a:p>
        </p:txBody>
      </p:sp>
      <p:sp>
        <p:nvSpPr>
          <p:cNvPr id="22" name="Text 20"/>
          <p:cNvSpPr/>
          <p:nvPr/>
        </p:nvSpPr>
        <p:spPr>
          <a:xfrm rot="16200000">
            <a:off x="932688" y="4187952"/>
            <a:ext cx="502920" cy="164592"/>
          </a:xfrm>
          <a:prstGeom prst="rect">
            <a:avLst/>
          </a:prstGeom>
          <a:noFill/>
          <a:ln/>
        </p:spPr>
        <p:txBody>
          <a:bodyPr wrap="square" lIns="0" tIns="0" rIns="0" bIns="0" rtlCol="0" anchor="ctr"/>
          <a:lstStyle/>
          <a:p>
            <a:pPr marL="0" indent="0">
              <a:buNone/>
            </a:pPr>
            <a:r>
              <a:rPr lang="en-US" sz="720" b="1">
                <a:solidFill>
                  <a:srgbClr val="667085"/>
                </a:solidFill>
              </a:rPr>
              <a:t>TRUE</a:t>
            </a:r>
            <a:endParaRPr lang="en-US" sz="720"/>
          </a:p>
        </p:txBody>
      </p:sp>
      <p:sp>
        <p:nvSpPr>
          <p:cNvPr id="23" name="Text 21"/>
          <p:cNvSpPr/>
          <p:nvPr/>
        </p:nvSpPr>
        <p:spPr>
          <a:xfrm>
            <a:off x="1481328" y="3739896"/>
            <a:ext cx="658368" cy="164592"/>
          </a:xfrm>
          <a:prstGeom prst="rect">
            <a:avLst/>
          </a:prstGeom>
          <a:noFill/>
          <a:ln/>
        </p:spPr>
        <p:txBody>
          <a:bodyPr wrap="square" lIns="0" tIns="0" rIns="0" bIns="0" rtlCol="0" anchor="ctr"/>
          <a:lstStyle/>
          <a:p>
            <a:pPr marL="0" indent="0" algn="r">
              <a:buNone/>
            </a:pPr>
            <a:r>
              <a:rPr lang="en-US" sz="800" b="1">
                <a:solidFill>
                  <a:srgbClr val="667085"/>
                </a:solidFill>
              </a:rPr>
              <a:t>&gt;50K</a:t>
            </a:r>
            <a:endParaRPr lang="en-US" sz="800"/>
          </a:p>
        </p:txBody>
      </p:sp>
      <p:sp>
        <p:nvSpPr>
          <p:cNvPr id="24" name="Text 22"/>
          <p:cNvSpPr/>
          <p:nvPr/>
        </p:nvSpPr>
        <p:spPr>
          <a:xfrm>
            <a:off x="1481328" y="4489704"/>
            <a:ext cx="658368" cy="164592"/>
          </a:xfrm>
          <a:prstGeom prst="rect">
            <a:avLst/>
          </a:prstGeom>
          <a:noFill/>
          <a:ln/>
        </p:spPr>
        <p:txBody>
          <a:bodyPr wrap="square" lIns="0" tIns="0" rIns="0" bIns="0" rtlCol="0" anchor="ctr"/>
          <a:lstStyle/>
          <a:p>
            <a:pPr marL="0" indent="0" algn="r">
              <a:buNone/>
            </a:pPr>
            <a:r>
              <a:rPr lang="en-US" sz="800" b="1">
                <a:solidFill>
                  <a:srgbClr val="667085"/>
                </a:solidFill>
              </a:rPr>
              <a:t>≤50K</a:t>
            </a:r>
            <a:endParaRPr lang="en-US" sz="800"/>
          </a:p>
        </p:txBody>
      </p:sp>
      <p:sp>
        <p:nvSpPr>
          <p:cNvPr id="25" name="Shape 23"/>
          <p:cNvSpPr/>
          <p:nvPr/>
        </p:nvSpPr>
        <p:spPr>
          <a:xfrm>
            <a:off x="2331720" y="3493008"/>
            <a:ext cx="1371600" cy="704088"/>
          </a:xfrm>
          <a:prstGeom prst="roundRect">
            <a:avLst>
              <a:gd name="adj" fmla="val 5195"/>
            </a:avLst>
          </a:prstGeom>
          <a:solidFill>
            <a:srgbClr val="E8F7F2"/>
          </a:solidFill>
          <a:ln w="12700">
            <a:solidFill>
              <a:srgbClr val="FFFFFF"/>
            </a:solidFill>
            <a:prstDash val="solid"/>
          </a:ln>
        </p:spPr>
        <p:txBody>
          <a:bodyPr/>
          <a:lstStyle/>
          <a:p>
            <a:endParaRPr lang="nl-NL"/>
          </a:p>
        </p:txBody>
      </p:sp>
      <p:sp>
        <p:nvSpPr>
          <p:cNvPr id="26" name="Text 24"/>
          <p:cNvSpPr/>
          <p:nvPr/>
        </p:nvSpPr>
        <p:spPr>
          <a:xfrm>
            <a:off x="2331720" y="3630168"/>
            <a:ext cx="1371600" cy="228600"/>
          </a:xfrm>
          <a:prstGeom prst="rect">
            <a:avLst/>
          </a:prstGeom>
          <a:noFill/>
          <a:ln/>
        </p:spPr>
        <p:txBody>
          <a:bodyPr wrap="square" lIns="0" tIns="0" rIns="0" bIns="0" rtlCol="0" anchor="ctr"/>
          <a:lstStyle/>
          <a:p>
            <a:pPr marL="0" indent="0" algn="ctr">
              <a:buNone/>
            </a:pPr>
            <a:r>
              <a:rPr lang="en-US" sz="1800" b="1">
                <a:solidFill>
                  <a:srgbClr val="16A36B"/>
                </a:solidFill>
              </a:rPr>
              <a:t>1359</a:t>
            </a:r>
            <a:endParaRPr lang="en-US" sz="1800"/>
          </a:p>
        </p:txBody>
      </p:sp>
      <p:sp>
        <p:nvSpPr>
          <p:cNvPr id="27" name="Text 25"/>
          <p:cNvSpPr/>
          <p:nvPr/>
        </p:nvSpPr>
        <p:spPr>
          <a:xfrm>
            <a:off x="2331720" y="3931920"/>
            <a:ext cx="1371600" cy="128016"/>
          </a:xfrm>
          <a:prstGeom prst="rect">
            <a:avLst/>
          </a:prstGeom>
          <a:noFill/>
          <a:ln/>
        </p:spPr>
        <p:txBody>
          <a:bodyPr wrap="square" lIns="0" tIns="0" rIns="0" bIns="0" rtlCol="0" anchor="ctr"/>
          <a:lstStyle/>
          <a:p>
            <a:pPr marL="0" indent="0" algn="ctr">
              <a:buNone/>
            </a:pPr>
            <a:r>
              <a:rPr lang="en-US" sz="700" b="1">
                <a:solidFill>
                  <a:srgbClr val="16A36B"/>
                </a:solidFill>
              </a:rPr>
              <a:t>TN</a:t>
            </a:r>
            <a:endParaRPr lang="en-US" sz="700"/>
          </a:p>
        </p:txBody>
      </p:sp>
      <p:sp>
        <p:nvSpPr>
          <p:cNvPr id="28" name="Shape 26"/>
          <p:cNvSpPr/>
          <p:nvPr/>
        </p:nvSpPr>
        <p:spPr>
          <a:xfrm>
            <a:off x="3749040" y="3493008"/>
            <a:ext cx="1371600" cy="704088"/>
          </a:xfrm>
          <a:prstGeom prst="roundRect">
            <a:avLst>
              <a:gd name="adj" fmla="val 5195"/>
            </a:avLst>
          </a:prstGeom>
          <a:solidFill>
            <a:srgbClr val="FFF6E6"/>
          </a:solidFill>
          <a:ln w="12700">
            <a:solidFill>
              <a:srgbClr val="FFFFFF"/>
            </a:solidFill>
            <a:prstDash val="solid"/>
          </a:ln>
        </p:spPr>
        <p:txBody>
          <a:bodyPr/>
          <a:lstStyle/>
          <a:p>
            <a:endParaRPr lang="nl-NL"/>
          </a:p>
        </p:txBody>
      </p:sp>
      <p:sp>
        <p:nvSpPr>
          <p:cNvPr id="29" name="Text 27"/>
          <p:cNvSpPr/>
          <p:nvPr/>
        </p:nvSpPr>
        <p:spPr>
          <a:xfrm>
            <a:off x="3749040" y="3630168"/>
            <a:ext cx="1371600" cy="228600"/>
          </a:xfrm>
          <a:prstGeom prst="rect">
            <a:avLst/>
          </a:prstGeom>
          <a:noFill/>
          <a:ln/>
        </p:spPr>
        <p:txBody>
          <a:bodyPr wrap="square" lIns="0" tIns="0" rIns="0" bIns="0" rtlCol="0" anchor="ctr"/>
          <a:lstStyle/>
          <a:p>
            <a:pPr marL="0" indent="0" algn="ctr">
              <a:buNone/>
            </a:pPr>
            <a:r>
              <a:rPr lang="en-US" sz="1800" b="1">
                <a:solidFill>
                  <a:srgbClr val="F59E0B"/>
                </a:solidFill>
              </a:rPr>
              <a:t>209</a:t>
            </a:r>
            <a:endParaRPr lang="en-US" sz="1800"/>
          </a:p>
        </p:txBody>
      </p:sp>
      <p:sp>
        <p:nvSpPr>
          <p:cNvPr id="30" name="Text 28"/>
          <p:cNvSpPr/>
          <p:nvPr/>
        </p:nvSpPr>
        <p:spPr>
          <a:xfrm>
            <a:off x="3749040" y="3931920"/>
            <a:ext cx="1371600" cy="128016"/>
          </a:xfrm>
          <a:prstGeom prst="rect">
            <a:avLst/>
          </a:prstGeom>
          <a:noFill/>
          <a:ln/>
        </p:spPr>
        <p:txBody>
          <a:bodyPr wrap="square" lIns="0" tIns="0" rIns="0" bIns="0" rtlCol="0" anchor="ctr"/>
          <a:lstStyle/>
          <a:p>
            <a:pPr marL="0" indent="0" algn="ctr">
              <a:buNone/>
            </a:pPr>
            <a:r>
              <a:rPr lang="en-US" sz="700" b="1">
                <a:solidFill>
                  <a:srgbClr val="F59E0B"/>
                </a:solidFill>
              </a:rPr>
              <a:t>FP</a:t>
            </a:r>
            <a:endParaRPr lang="en-US" sz="700"/>
          </a:p>
        </p:txBody>
      </p:sp>
      <p:sp>
        <p:nvSpPr>
          <p:cNvPr id="31" name="Shape 29"/>
          <p:cNvSpPr/>
          <p:nvPr/>
        </p:nvSpPr>
        <p:spPr>
          <a:xfrm>
            <a:off x="2331720" y="4242816"/>
            <a:ext cx="1371600" cy="704088"/>
          </a:xfrm>
          <a:prstGeom prst="roundRect">
            <a:avLst>
              <a:gd name="adj" fmla="val 5195"/>
            </a:avLst>
          </a:prstGeom>
          <a:solidFill>
            <a:srgbClr val="FDEEEE"/>
          </a:solidFill>
          <a:ln w="12700">
            <a:solidFill>
              <a:srgbClr val="FFFFFF"/>
            </a:solidFill>
            <a:prstDash val="solid"/>
          </a:ln>
        </p:spPr>
        <p:txBody>
          <a:bodyPr/>
          <a:lstStyle/>
          <a:p>
            <a:endParaRPr lang="nl-NL"/>
          </a:p>
        </p:txBody>
      </p:sp>
      <p:sp>
        <p:nvSpPr>
          <p:cNvPr id="32" name="Text 30"/>
          <p:cNvSpPr/>
          <p:nvPr/>
        </p:nvSpPr>
        <p:spPr>
          <a:xfrm>
            <a:off x="2331720" y="4379976"/>
            <a:ext cx="1371600" cy="228600"/>
          </a:xfrm>
          <a:prstGeom prst="rect">
            <a:avLst/>
          </a:prstGeom>
          <a:noFill/>
          <a:ln/>
        </p:spPr>
        <p:txBody>
          <a:bodyPr wrap="square" lIns="0" tIns="0" rIns="0" bIns="0" rtlCol="0" anchor="ctr"/>
          <a:lstStyle/>
          <a:p>
            <a:pPr marL="0" indent="0" algn="ctr">
              <a:buNone/>
            </a:pPr>
            <a:r>
              <a:rPr lang="en-US" sz="1800" b="1">
                <a:solidFill>
                  <a:srgbClr val="E85353"/>
                </a:solidFill>
              </a:rPr>
              <a:t>870</a:t>
            </a:r>
            <a:endParaRPr lang="en-US" sz="1800"/>
          </a:p>
        </p:txBody>
      </p:sp>
      <p:sp>
        <p:nvSpPr>
          <p:cNvPr id="33" name="Text 31"/>
          <p:cNvSpPr/>
          <p:nvPr/>
        </p:nvSpPr>
        <p:spPr>
          <a:xfrm>
            <a:off x="2331720" y="4681728"/>
            <a:ext cx="1371600" cy="128016"/>
          </a:xfrm>
          <a:prstGeom prst="rect">
            <a:avLst/>
          </a:prstGeom>
          <a:noFill/>
          <a:ln/>
        </p:spPr>
        <p:txBody>
          <a:bodyPr wrap="square" lIns="0" tIns="0" rIns="0" bIns="0" rtlCol="0" anchor="ctr"/>
          <a:lstStyle/>
          <a:p>
            <a:pPr marL="0" indent="0" algn="ctr">
              <a:buNone/>
            </a:pPr>
            <a:r>
              <a:rPr lang="en-US" sz="700" b="1">
                <a:solidFill>
                  <a:srgbClr val="E85353"/>
                </a:solidFill>
              </a:rPr>
              <a:t>FN</a:t>
            </a:r>
            <a:endParaRPr lang="en-US" sz="700"/>
          </a:p>
        </p:txBody>
      </p:sp>
      <p:sp>
        <p:nvSpPr>
          <p:cNvPr id="34" name="Shape 32"/>
          <p:cNvSpPr/>
          <p:nvPr/>
        </p:nvSpPr>
        <p:spPr>
          <a:xfrm>
            <a:off x="3749040" y="4242816"/>
            <a:ext cx="1371600" cy="704088"/>
          </a:xfrm>
          <a:prstGeom prst="roundRect">
            <a:avLst>
              <a:gd name="adj" fmla="val 5195"/>
            </a:avLst>
          </a:prstGeom>
          <a:solidFill>
            <a:srgbClr val="EAFBF7"/>
          </a:solidFill>
          <a:ln w="12700">
            <a:solidFill>
              <a:srgbClr val="FFFFFF"/>
            </a:solidFill>
            <a:prstDash val="solid"/>
          </a:ln>
        </p:spPr>
        <p:txBody>
          <a:bodyPr/>
          <a:lstStyle/>
          <a:p>
            <a:endParaRPr lang="nl-NL"/>
          </a:p>
        </p:txBody>
      </p:sp>
      <p:sp>
        <p:nvSpPr>
          <p:cNvPr id="35" name="Text 33"/>
          <p:cNvSpPr/>
          <p:nvPr/>
        </p:nvSpPr>
        <p:spPr>
          <a:xfrm>
            <a:off x="3749040" y="4379976"/>
            <a:ext cx="1371600" cy="228600"/>
          </a:xfrm>
          <a:prstGeom prst="rect">
            <a:avLst/>
          </a:prstGeom>
          <a:noFill/>
          <a:ln/>
        </p:spPr>
        <p:txBody>
          <a:bodyPr wrap="square" lIns="0" tIns="0" rIns="0" bIns="0" rtlCol="0" anchor="ctr"/>
          <a:lstStyle/>
          <a:p>
            <a:pPr marL="0" indent="0" algn="ctr">
              <a:buNone/>
            </a:pPr>
            <a:r>
              <a:rPr lang="en-US" sz="1800" b="1">
                <a:solidFill>
                  <a:srgbClr val="12B8A6"/>
                </a:solidFill>
              </a:rPr>
              <a:t>4070</a:t>
            </a:r>
            <a:endParaRPr lang="en-US" sz="1800"/>
          </a:p>
        </p:txBody>
      </p:sp>
      <p:sp>
        <p:nvSpPr>
          <p:cNvPr id="36" name="Text 34"/>
          <p:cNvSpPr/>
          <p:nvPr/>
        </p:nvSpPr>
        <p:spPr>
          <a:xfrm>
            <a:off x="3749040" y="4681728"/>
            <a:ext cx="1371600" cy="128016"/>
          </a:xfrm>
          <a:prstGeom prst="rect">
            <a:avLst/>
          </a:prstGeom>
          <a:noFill/>
          <a:ln/>
        </p:spPr>
        <p:txBody>
          <a:bodyPr wrap="square" lIns="0" tIns="0" rIns="0" bIns="0" rtlCol="0" anchor="ctr"/>
          <a:lstStyle/>
          <a:p>
            <a:pPr marL="0" indent="0" algn="ctr">
              <a:buNone/>
            </a:pPr>
            <a:r>
              <a:rPr lang="en-US" sz="700" b="1">
                <a:solidFill>
                  <a:srgbClr val="12B8A6"/>
                </a:solidFill>
              </a:rPr>
              <a:t>TP</a:t>
            </a:r>
            <a:endParaRPr lang="en-US" sz="700"/>
          </a:p>
        </p:txBody>
      </p:sp>
      <p:sp>
        <p:nvSpPr>
          <p:cNvPr id="37" name="Text 35"/>
          <p:cNvSpPr/>
          <p:nvPr/>
        </p:nvSpPr>
        <p:spPr>
          <a:xfrm>
            <a:off x="932688" y="5230368"/>
            <a:ext cx="2377440" cy="182880"/>
          </a:xfrm>
          <a:prstGeom prst="rect">
            <a:avLst/>
          </a:prstGeom>
          <a:noFill/>
          <a:ln/>
        </p:spPr>
        <p:txBody>
          <a:bodyPr wrap="square" lIns="0" tIns="0" rIns="0" bIns="0" rtlCol="0" anchor="ctr"/>
          <a:lstStyle/>
          <a:p>
            <a:pPr marL="0" indent="0">
              <a:buNone/>
            </a:pPr>
            <a:r>
              <a:rPr lang="en-US" sz="910" b="1">
                <a:solidFill>
                  <a:srgbClr val="E85353"/>
                </a:solidFill>
              </a:rPr>
              <a:t>870 missed low-income people</a:t>
            </a:r>
            <a:endParaRPr lang="en-US" sz="910"/>
          </a:p>
        </p:txBody>
      </p:sp>
      <p:sp>
        <p:nvSpPr>
          <p:cNvPr id="38" name="Text 36"/>
          <p:cNvSpPr/>
          <p:nvPr/>
        </p:nvSpPr>
        <p:spPr>
          <a:xfrm>
            <a:off x="4169664" y="5230368"/>
            <a:ext cx="2240280" cy="182880"/>
          </a:xfrm>
          <a:prstGeom prst="rect">
            <a:avLst/>
          </a:prstGeom>
          <a:noFill/>
          <a:ln/>
        </p:spPr>
        <p:txBody>
          <a:bodyPr wrap="square" lIns="0" tIns="0" rIns="0" bIns="0" rtlCol="0" anchor="ctr"/>
          <a:lstStyle/>
          <a:p>
            <a:pPr marL="0" indent="0" algn="r">
              <a:buNone/>
            </a:pPr>
            <a:r>
              <a:rPr lang="en-US" sz="910" b="1">
                <a:solidFill>
                  <a:srgbClr val="F59E0B"/>
                </a:solidFill>
              </a:rPr>
              <a:t>209 unnecessary contacts</a:t>
            </a:r>
            <a:endParaRPr lang="en-US" sz="910"/>
          </a:p>
        </p:txBody>
      </p:sp>
      <p:sp>
        <p:nvSpPr>
          <p:cNvPr id="39" name="Shape 37"/>
          <p:cNvSpPr/>
          <p:nvPr/>
        </p:nvSpPr>
        <p:spPr>
          <a:xfrm>
            <a:off x="7342632" y="2697480"/>
            <a:ext cx="4270248" cy="3154680"/>
          </a:xfrm>
          <a:prstGeom prst="roundRect">
            <a:avLst>
              <a:gd name="adj" fmla="val 3478"/>
            </a:avLst>
          </a:prstGeom>
          <a:solidFill>
            <a:srgbClr val="0B1220"/>
          </a:solidFill>
          <a:ln w="12700">
            <a:solidFill>
              <a:srgbClr val="0B1220"/>
            </a:solidFill>
            <a:prstDash val="solid"/>
          </a:ln>
          <a:effectLst>
            <a:outerShdw blurRad="19050" dist="50800" dir="2700000" algn="bl" rotWithShape="0">
              <a:srgbClr val="BBC4D1">
                <a:alpha val="18000"/>
              </a:srgbClr>
            </a:outerShdw>
          </a:effectLst>
        </p:spPr>
        <p:txBody>
          <a:bodyPr/>
          <a:lstStyle/>
          <a:p>
            <a:endParaRPr lang="nl-NL"/>
          </a:p>
        </p:txBody>
      </p:sp>
      <p:sp>
        <p:nvSpPr>
          <p:cNvPr id="40" name="Shape 38"/>
          <p:cNvSpPr/>
          <p:nvPr/>
        </p:nvSpPr>
        <p:spPr>
          <a:xfrm>
            <a:off x="7644384" y="2980944"/>
            <a:ext cx="1600200" cy="310896"/>
          </a:xfrm>
          <a:prstGeom prst="roundRect">
            <a:avLst>
              <a:gd name="adj" fmla="val 23529"/>
            </a:avLst>
          </a:prstGeom>
          <a:solidFill>
            <a:srgbClr val="263550"/>
          </a:solidFill>
          <a:ln w="12700">
            <a:solidFill>
              <a:srgbClr val="263550"/>
            </a:solidFill>
            <a:prstDash val="solid"/>
          </a:ln>
        </p:spPr>
        <p:txBody>
          <a:bodyPr/>
          <a:lstStyle/>
          <a:p>
            <a:endParaRPr lang="nl-NL"/>
          </a:p>
        </p:txBody>
      </p:sp>
      <p:sp>
        <p:nvSpPr>
          <p:cNvPr id="41" name="Text 39"/>
          <p:cNvSpPr/>
          <p:nvPr/>
        </p:nvSpPr>
        <p:spPr>
          <a:xfrm>
            <a:off x="7717536" y="3031236"/>
            <a:ext cx="1453896" cy="182880"/>
          </a:xfrm>
          <a:prstGeom prst="rect">
            <a:avLst/>
          </a:prstGeom>
          <a:noFill/>
          <a:ln/>
        </p:spPr>
        <p:txBody>
          <a:bodyPr wrap="square" lIns="0" tIns="0" rIns="0" bIns="0" rtlCol="0" anchor="ctr"/>
          <a:lstStyle/>
          <a:p>
            <a:pPr marL="0" indent="0" algn="ctr">
              <a:buNone/>
            </a:pPr>
            <a:r>
              <a:rPr lang="en-US" sz="840" b="1">
                <a:solidFill>
                  <a:srgbClr val="C4CCFF"/>
                </a:solidFill>
              </a:rPr>
              <a:t>DECISION THRESHOLD</a:t>
            </a:r>
            <a:endParaRPr lang="en-US" sz="840"/>
          </a:p>
        </p:txBody>
      </p:sp>
      <p:sp>
        <p:nvSpPr>
          <p:cNvPr id="42" name="Text 40"/>
          <p:cNvSpPr/>
          <p:nvPr/>
        </p:nvSpPr>
        <p:spPr>
          <a:xfrm>
            <a:off x="7644384" y="3493008"/>
            <a:ext cx="1828800" cy="594360"/>
          </a:xfrm>
          <a:prstGeom prst="rect">
            <a:avLst/>
          </a:prstGeom>
          <a:noFill/>
          <a:ln/>
        </p:spPr>
        <p:txBody>
          <a:bodyPr wrap="square" lIns="0" tIns="0" rIns="0" bIns="0" rtlCol="0" anchor="ctr"/>
          <a:lstStyle/>
          <a:p>
            <a:pPr marL="0" indent="0">
              <a:buNone/>
            </a:pPr>
            <a:r>
              <a:rPr lang="en-US" sz="3600" b="1">
                <a:solidFill>
                  <a:srgbClr val="FFFFFF"/>
                </a:solidFill>
              </a:rPr>
              <a:t>0.50</a:t>
            </a:r>
            <a:endParaRPr lang="en-US" sz="3600"/>
          </a:p>
        </p:txBody>
      </p:sp>
      <p:sp>
        <p:nvSpPr>
          <p:cNvPr id="43" name="Text 41"/>
          <p:cNvSpPr/>
          <p:nvPr/>
        </p:nvSpPr>
        <p:spPr>
          <a:xfrm>
            <a:off x="7662672" y="4078224"/>
            <a:ext cx="2331720" cy="237744"/>
          </a:xfrm>
          <a:prstGeom prst="rect">
            <a:avLst/>
          </a:prstGeom>
          <a:noFill/>
          <a:ln/>
        </p:spPr>
        <p:txBody>
          <a:bodyPr wrap="square" lIns="0" tIns="0" rIns="0" bIns="0" rtlCol="0" anchor="ctr"/>
          <a:lstStyle/>
          <a:p>
            <a:pPr marL="0" indent="0">
              <a:buNone/>
            </a:pPr>
            <a:r>
              <a:rPr lang="en-US" sz="1000">
                <a:solidFill>
                  <a:srgbClr val="BFC7D8"/>
                </a:solidFill>
              </a:rPr>
              <a:t>kept as the final threshold</a:t>
            </a:r>
            <a:endParaRPr lang="en-US" sz="1000"/>
          </a:p>
        </p:txBody>
      </p:sp>
      <p:sp>
        <p:nvSpPr>
          <p:cNvPr id="44" name="Shape 42"/>
          <p:cNvSpPr/>
          <p:nvPr/>
        </p:nvSpPr>
        <p:spPr>
          <a:xfrm>
            <a:off x="7662672" y="4526280"/>
            <a:ext cx="3474720" cy="0"/>
          </a:xfrm>
          <a:prstGeom prst="line">
            <a:avLst/>
          </a:prstGeom>
          <a:noFill/>
          <a:ln w="12700">
            <a:solidFill>
              <a:srgbClr val="3A4965"/>
            </a:solidFill>
            <a:prstDash val="solid"/>
          </a:ln>
        </p:spPr>
        <p:txBody>
          <a:bodyPr/>
          <a:lstStyle/>
          <a:p>
            <a:endParaRPr lang="nl-NL"/>
          </a:p>
        </p:txBody>
      </p:sp>
      <p:sp>
        <p:nvSpPr>
          <p:cNvPr id="45" name="Text 43"/>
          <p:cNvSpPr/>
          <p:nvPr/>
        </p:nvSpPr>
        <p:spPr>
          <a:xfrm>
            <a:off x="7662672" y="4736592"/>
            <a:ext cx="640080" cy="182880"/>
          </a:xfrm>
          <a:prstGeom prst="rect">
            <a:avLst/>
          </a:prstGeom>
          <a:noFill/>
          <a:ln/>
        </p:spPr>
        <p:txBody>
          <a:bodyPr wrap="square" lIns="0" tIns="0" rIns="0" bIns="0" rtlCol="0" anchor="ctr"/>
          <a:lstStyle/>
          <a:p>
            <a:pPr marL="0" indent="0">
              <a:buNone/>
            </a:pPr>
            <a:r>
              <a:rPr lang="en-US" sz="900" b="1">
                <a:solidFill>
                  <a:srgbClr val="8EE5D4"/>
                </a:solidFill>
              </a:rPr>
              <a:t>At 0.40</a:t>
            </a:r>
            <a:endParaRPr lang="en-US" sz="900"/>
          </a:p>
        </p:txBody>
      </p:sp>
      <p:sp>
        <p:nvSpPr>
          <p:cNvPr id="46" name="Text 44"/>
          <p:cNvSpPr/>
          <p:nvPr/>
        </p:nvSpPr>
        <p:spPr>
          <a:xfrm>
            <a:off x="8366760" y="4718304"/>
            <a:ext cx="2057400" cy="201168"/>
          </a:xfrm>
          <a:prstGeom prst="rect">
            <a:avLst/>
          </a:prstGeom>
          <a:noFill/>
          <a:ln/>
        </p:spPr>
        <p:txBody>
          <a:bodyPr wrap="square" lIns="0" tIns="0" rIns="0" bIns="0" rtlCol="0" anchor="ctr"/>
          <a:lstStyle/>
          <a:p>
            <a:pPr marL="0" indent="0">
              <a:buNone/>
            </a:pPr>
            <a:r>
              <a:rPr lang="en-US" sz="920">
                <a:solidFill>
                  <a:srgbClr val="FFFFFF"/>
                </a:solidFill>
              </a:rPr>
              <a:t>≈1,000 fewer missed people</a:t>
            </a:r>
            <a:endParaRPr lang="en-US" sz="920"/>
          </a:p>
        </p:txBody>
      </p:sp>
      <p:sp>
        <p:nvSpPr>
          <p:cNvPr id="47" name="Text 45"/>
          <p:cNvSpPr/>
          <p:nvPr/>
        </p:nvSpPr>
        <p:spPr>
          <a:xfrm>
            <a:off x="8366760" y="5074920"/>
            <a:ext cx="2331720" cy="310896"/>
          </a:xfrm>
          <a:prstGeom prst="rect">
            <a:avLst/>
          </a:prstGeom>
          <a:noFill/>
          <a:ln/>
        </p:spPr>
        <p:txBody>
          <a:bodyPr wrap="square" lIns="0" tIns="0" rIns="0" bIns="0" rtlCol="0" anchor="ctr"/>
          <a:lstStyle/>
          <a:p>
            <a:pPr marL="0" indent="0">
              <a:buNone/>
            </a:pPr>
            <a:r>
              <a:rPr lang="en-US" sz="920">
                <a:solidFill>
                  <a:srgbClr val="E7EAF0"/>
                </a:solidFill>
              </a:rPr>
              <a:t>but ≈430 more unnecessary contacts</a:t>
            </a:r>
            <a:endParaRPr lang="en-US" sz="920"/>
          </a:p>
        </p:txBody>
      </p:sp>
      <p:sp>
        <p:nvSpPr>
          <p:cNvPr id="48" name="Text 46"/>
          <p:cNvSpPr/>
          <p:nvPr/>
        </p:nvSpPr>
        <p:spPr>
          <a:xfrm>
            <a:off x="7662672" y="5513832"/>
            <a:ext cx="3017520" cy="201168"/>
          </a:xfrm>
          <a:prstGeom prst="rect">
            <a:avLst/>
          </a:prstGeom>
          <a:noFill/>
          <a:ln/>
        </p:spPr>
        <p:txBody>
          <a:bodyPr wrap="square" lIns="0" tIns="0" rIns="0" bIns="0" rtlCol="0" anchor="ctr"/>
          <a:lstStyle/>
          <a:p>
            <a:pPr marL="0" indent="0">
              <a:buNone/>
            </a:pPr>
            <a:r>
              <a:rPr lang="en-US" sz="920" b="1">
                <a:solidFill>
                  <a:srgbClr val="AFC3FF"/>
                </a:solidFill>
              </a:rPr>
              <a:t>With only 500 visits, capacity matters.</a:t>
            </a:r>
            <a:endParaRPr lang="en-US" sz="920"/>
          </a:p>
        </p:txBody>
      </p:sp>
      <p:sp>
        <p:nvSpPr>
          <p:cNvPr id="49" name="Text 47"/>
          <p:cNvSpPr/>
          <p:nvPr/>
        </p:nvSpPr>
        <p:spPr>
          <a:xfrm>
            <a:off x="566928" y="6336792"/>
            <a:ext cx="10561320" cy="137160"/>
          </a:xfrm>
          <a:prstGeom prst="rect">
            <a:avLst/>
          </a:prstGeom>
          <a:noFill/>
          <a:ln/>
        </p:spPr>
        <p:txBody>
          <a:bodyPr wrap="square" lIns="0" tIns="0" rIns="0" bIns="0" rtlCol="0" anchor="ctr"/>
          <a:lstStyle/>
          <a:p>
            <a:pPr marL="0" indent="0">
              <a:buNone/>
            </a:pPr>
            <a:r>
              <a:rPr lang="en-US" sz="650">
                <a:solidFill>
                  <a:srgbClr val="8A94A6"/>
                </a:solidFill>
              </a:rPr>
              <a:t>All threshold testing was done on out-of-fold training predictions, not on the test set.</a:t>
            </a:r>
            <a:endParaRPr lang="en-US" sz="650"/>
          </a:p>
        </p:txBody>
      </p:sp>
      <p:sp>
        <p:nvSpPr>
          <p:cNvPr id="50"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384048"/>
            <a:ext cx="8138160" cy="457200"/>
          </a:xfrm>
          <a:prstGeom prst="rect">
            <a:avLst/>
          </a:prstGeom>
          <a:noFill/>
          <a:ln/>
        </p:spPr>
        <p:txBody>
          <a:bodyPr wrap="square" lIns="0" tIns="0" rIns="0" bIns="0" rtlCol="0" anchor="ctr"/>
          <a:lstStyle/>
          <a:p>
            <a:pPr marL="0" indent="0">
              <a:buNone/>
            </a:pPr>
            <a:r>
              <a:rPr lang="en-US" sz="2700" b="1">
                <a:solidFill>
                  <a:srgbClr val="0B1220"/>
                </a:solidFill>
                <a:latin typeface="Aptos Display" pitchFamily="34" charset="0"/>
                <a:ea typeface="Aptos Display" pitchFamily="34" charset="-122"/>
                <a:cs typeface="Aptos Display" pitchFamily="34" charset="-120"/>
              </a:rPr>
              <a:t>Errors, fairness &amp; ethics</a:t>
            </a:r>
            <a:endParaRPr lang="en-US" sz="2700"/>
          </a:p>
        </p:txBody>
      </p:sp>
      <p:sp>
        <p:nvSpPr>
          <p:cNvPr id="3" name="Text 1"/>
          <p:cNvSpPr/>
          <p:nvPr/>
        </p:nvSpPr>
        <p:spPr>
          <a:xfrm>
            <a:off x="548640" y="859536"/>
            <a:ext cx="9966960" cy="256032"/>
          </a:xfrm>
          <a:prstGeom prst="rect">
            <a:avLst/>
          </a:prstGeom>
          <a:noFill/>
          <a:ln/>
        </p:spPr>
        <p:txBody>
          <a:bodyPr wrap="square" lIns="0" tIns="0" rIns="0" bIns="0" rtlCol="0" anchor="ctr"/>
          <a:lstStyle/>
          <a:p>
            <a:pPr marL="0" indent="0">
              <a:buNone/>
            </a:pPr>
            <a:r>
              <a:rPr lang="en-US" sz="1050">
                <a:solidFill>
                  <a:srgbClr val="667085"/>
                </a:solidFill>
              </a:rPr>
              <a:t>The strongest model still has an important weak spot</a:t>
            </a:r>
            <a:endParaRPr lang="en-US" sz="1050"/>
          </a:p>
        </p:txBody>
      </p:sp>
      <p:sp>
        <p:nvSpPr>
          <p:cNvPr id="4" name="Shape 2"/>
          <p:cNvSpPr/>
          <p:nvPr/>
        </p:nvSpPr>
        <p:spPr>
          <a:xfrm>
            <a:off x="530352" y="1152144"/>
            <a:ext cx="11109960" cy="0"/>
          </a:xfrm>
          <a:prstGeom prst="line">
            <a:avLst/>
          </a:prstGeom>
          <a:noFill/>
          <a:ln w="12700">
            <a:solidFill>
              <a:srgbClr val="DFE4EC"/>
            </a:solidFill>
            <a:prstDash val="solid"/>
          </a:ln>
        </p:spPr>
        <p:txBody>
          <a:bodyPr/>
          <a:lstStyle/>
          <a:p>
            <a:endParaRPr lang="nl-NL"/>
          </a:p>
        </p:txBody>
      </p:sp>
      <p:sp>
        <p:nvSpPr>
          <p:cNvPr id="5" name="Shape 3"/>
          <p:cNvSpPr/>
          <p:nvPr/>
        </p:nvSpPr>
        <p:spPr>
          <a:xfrm>
            <a:off x="566928" y="1417320"/>
            <a:ext cx="4892040" cy="4553712"/>
          </a:xfrm>
          <a:prstGeom prst="roundRect">
            <a:avLst>
              <a:gd name="adj" fmla="val 2410"/>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6" name="Text 4"/>
          <p:cNvSpPr/>
          <p:nvPr/>
        </p:nvSpPr>
        <p:spPr>
          <a:xfrm>
            <a:off x="868680" y="1700784"/>
            <a:ext cx="3474720" cy="256032"/>
          </a:xfrm>
          <a:prstGeom prst="rect">
            <a:avLst/>
          </a:prstGeom>
          <a:noFill/>
          <a:ln/>
        </p:spPr>
        <p:txBody>
          <a:bodyPr wrap="square" lIns="0" tIns="0" rIns="0" bIns="0" rtlCol="0" anchor="ctr"/>
          <a:lstStyle/>
          <a:p>
            <a:pPr marL="0" indent="0">
              <a:buNone/>
            </a:pPr>
            <a:r>
              <a:rPr lang="en-US" sz="1300" b="1">
                <a:solidFill>
                  <a:srgbClr val="0B1220"/>
                </a:solidFill>
              </a:rPr>
              <a:t>False-negative rate among low-income people</a:t>
            </a:r>
            <a:endParaRPr lang="en-US" sz="1300"/>
          </a:p>
        </p:txBody>
      </p:sp>
      <p:sp>
        <p:nvSpPr>
          <p:cNvPr id="7" name="Text 5"/>
          <p:cNvSpPr/>
          <p:nvPr/>
        </p:nvSpPr>
        <p:spPr>
          <a:xfrm>
            <a:off x="4224528" y="1737360"/>
            <a:ext cx="822960" cy="164592"/>
          </a:xfrm>
          <a:prstGeom prst="rect">
            <a:avLst/>
          </a:prstGeom>
          <a:noFill/>
          <a:ln/>
        </p:spPr>
        <p:txBody>
          <a:bodyPr wrap="square" lIns="0" tIns="0" rIns="0" bIns="0" rtlCol="0" anchor="ctr"/>
          <a:lstStyle/>
          <a:p>
            <a:pPr marL="0" indent="0" algn="r">
              <a:buNone/>
            </a:pPr>
            <a:r>
              <a:rPr lang="en-US" sz="760">
                <a:solidFill>
                  <a:srgbClr val="667085"/>
                </a:solidFill>
              </a:rPr>
              <a:t>Lower is better</a:t>
            </a:r>
            <a:endParaRPr lang="en-US" sz="760"/>
          </a:p>
        </p:txBody>
      </p:sp>
      <p:sp>
        <p:nvSpPr>
          <p:cNvPr id="8" name="Text 6"/>
          <p:cNvSpPr/>
          <p:nvPr/>
        </p:nvSpPr>
        <p:spPr>
          <a:xfrm>
            <a:off x="896112" y="2423160"/>
            <a:ext cx="548640" cy="182880"/>
          </a:xfrm>
          <a:prstGeom prst="rect">
            <a:avLst/>
          </a:prstGeom>
          <a:noFill/>
          <a:ln/>
        </p:spPr>
        <p:txBody>
          <a:bodyPr wrap="square" lIns="0" tIns="0" rIns="0" bIns="0" rtlCol="0" anchor="ctr"/>
          <a:lstStyle/>
          <a:p>
            <a:pPr marL="0" indent="0">
              <a:buNone/>
            </a:pPr>
            <a:r>
              <a:rPr lang="en-US" sz="1000" b="1">
                <a:solidFill>
                  <a:srgbClr val="182230"/>
                </a:solidFill>
              </a:rPr>
              <a:t>Men</a:t>
            </a:r>
            <a:endParaRPr lang="en-US" sz="1000"/>
          </a:p>
        </p:txBody>
      </p:sp>
      <p:sp>
        <p:nvSpPr>
          <p:cNvPr id="9" name="Shape 7"/>
          <p:cNvSpPr/>
          <p:nvPr/>
        </p:nvSpPr>
        <p:spPr>
          <a:xfrm>
            <a:off x="1572768" y="2359152"/>
            <a:ext cx="3246120" cy="402336"/>
          </a:xfrm>
          <a:prstGeom prst="roundRect">
            <a:avLst>
              <a:gd name="adj" fmla="val 9091"/>
            </a:avLst>
          </a:prstGeom>
          <a:solidFill>
            <a:srgbClr val="F0F2F6"/>
          </a:solidFill>
          <a:ln w="12700">
            <a:solidFill>
              <a:srgbClr val="F0F2F6"/>
            </a:solidFill>
            <a:prstDash val="solid"/>
          </a:ln>
        </p:spPr>
        <p:txBody>
          <a:bodyPr/>
          <a:lstStyle/>
          <a:p>
            <a:endParaRPr lang="nl-NL"/>
          </a:p>
        </p:txBody>
      </p:sp>
      <p:sp>
        <p:nvSpPr>
          <p:cNvPr id="10" name="Shape 8"/>
          <p:cNvSpPr/>
          <p:nvPr/>
        </p:nvSpPr>
        <p:spPr>
          <a:xfrm>
            <a:off x="1572768" y="2359152"/>
            <a:ext cx="2586076" cy="402336"/>
          </a:xfrm>
          <a:prstGeom prst="roundRect">
            <a:avLst>
              <a:gd name="adj" fmla="val 9091"/>
            </a:avLst>
          </a:prstGeom>
          <a:solidFill>
            <a:srgbClr val="E85353"/>
          </a:solidFill>
          <a:ln w="12700">
            <a:solidFill>
              <a:srgbClr val="E85353"/>
            </a:solidFill>
            <a:prstDash val="solid"/>
          </a:ln>
        </p:spPr>
        <p:txBody>
          <a:bodyPr/>
          <a:lstStyle/>
          <a:p>
            <a:endParaRPr lang="nl-NL"/>
          </a:p>
        </p:txBody>
      </p:sp>
      <p:sp>
        <p:nvSpPr>
          <p:cNvPr id="11" name="Text 9"/>
          <p:cNvSpPr/>
          <p:nvPr/>
        </p:nvSpPr>
        <p:spPr>
          <a:xfrm>
            <a:off x="4160520" y="2423160"/>
            <a:ext cx="502920" cy="164592"/>
          </a:xfrm>
          <a:prstGeom prst="rect">
            <a:avLst/>
          </a:prstGeom>
          <a:noFill/>
          <a:ln/>
        </p:spPr>
        <p:txBody>
          <a:bodyPr wrap="square" lIns="0" tIns="0" rIns="0" bIns="0" rtlCol="0" anchor="ctr"/>
          <a:lstStyle/>
          <a:p>
            <a:pPr marL="0" indent="0">
              <a:buNone/>
            </a:pPr>
            <a:r>
              <a:rPr lang="en-US" sz="980" b="1">
                <a:solidFill>
                  <a:srgbClr val="E85353"/>
                </a:solidFill>
              </a:rPr>
              <a:t>23.9%</a:t>
            </a:r>
            <a:endParaRPr lang="en-US" sz="980"/>
          </a:p>
        </p:txBody>
      </p:sp>
      <p:sp>
        <p:nvSpPr>
          <p:cNvPr id="12" name="Text 10"/>
          <p:cNvSpPr/>
          <p:nvPr/>
        </p:nvSpPr>
        <p:spPr>
          <a:xfrm>
            <a:off x="896112" y="3246120"/>
            <a:ext cx="548640" cy="182880"/>
          </a:xfrm>
          <a:prstGeom prst="rect">
            <a:avLst/>
          </a:prstGeom>
          <a:noFill/>
          <a:ln/>
        </p:spPr>
        <p:txBody>
          <a:bodyPr wrap="square" lIns="0" tIns="0" rIns="0" bIns="0" rtlCol="0" anchor="ctr"/>
          <a:lstStyle/>
          <a:p>
            <a:pPr marL="0" indent="0">
              <a:buNone/>
            </a:pPr>
            <a:r>
              <a:rPr lang="en-US" sz="1000" b="1">
                <a:solidFill>
                  <a:srgbClr val="182230"/>
                </a:solidFill>
              </a:rPr>
              <a:t>Women</a:t>
            </a:r>
            <a:endParaRPr lang="en-US" sz="1000"/>
          </a:p>
        </p:txBody>
      </p:sp>
      <p:sp>
        <p:nvSpPr>
          <p:cNvPr id="13" name="Shape 11"/>
          <p:cNvSpPr/>
          <p:nvPr/>
        </p:nvSpPr>
        <p:spPr>
          <a:xfrm>
            <a:off x="1572768" y="3182112"/>
            <a:ext cx="3246120" cy="402336"/>
          </a:xfrm>
          <a:prstGeom prst="roundRect">
            <a:avLst>
              <a:gd name="adj" fmla="val 9091"/>
            </a:avLst>
          </a:prstGeom>
          <a:solidFill>
            <a:srgbClr val="F0F2F6"/>
          </a:solidFill>
          <a:ln w="12700">
            <a:solidFill>
              <a:srgbClr val="F0F2F6"/>
            </a:solidFill>
            <a:prstDash val="solid"/>
          </a:ln>
        </p:spPr>
        <p:txBody>
          <a:bodyPr/>
          <a:lstStyle/>
          <a:p>
            <a:endParaRPr lang="nl-NL"/>
          </a:p>
        </p:txBody>
      </p:sp>
      <p:sp>
        <p:nvSpPr>
          <p:cNvPr id="14" name="Shape 12"/>
          <p:cNvSpPr/>
          <p:nvPr/>
        </p:nvSpPr>
        <p:spPr>
          <a:xfrm>
            <a:off x="1572768" y="3182112"/>
            <a:ext cx="822350" cy="402336"/>
          </a:xfrm>
          <a:prstGeom prst="roundRect">
            <a:avLst>
              <a:gd name="adj" fmla="val 9091"/>
            </a:avLst>
          </a:prstGeom>
          <a:solidFill>
            <a:srgbClr val="12B8A6"/>
          </a:solidFill>
          <a:ln w="12700">
            <a:solidFill>
              <a:srgbClr val="12B8A6"/>
            </a:solidFill>
            <a:prstDash val="solid"/>
          </a:ln>
        </p:spPr>
        <p:txBody>
          <a:bodyPr/>
          <a:lstStyle/>
          <a:p>
            <a:endParaRPr lang="nl-NL"/>
          </a:p>
        </p:txBody>
      </p:sp>
      <p:sp>
        <p:nvSpPr>
          <p:cNvPr id="15" name="Text 13"/>
          <p:cNvSpPr/>
          <p:nvPr/>
        </p:nvSpPr>
        <p:spPr>
          <a:xfrm>
            <a:off x="2505456" y="3246120"/>
            <a:ext cx="457200" cy="164592"/>
          </a:xfrm>
          <a:prstGeom prst="rect">
            <a:avLst/>
          </a:prstGeom>
          <a:noFill/>
          <a:ln/>
        </p:spPr>
        <p:txBody>
          <a:bodyPr wrap="square" lIns="0" tIns="0" rIns="0" bIns="0" rtlCol="0" anchor="ctr"/>
          <a:lstStyle/>
          <a:p>
            <a:pPr marL="0" indent="0">
              <a:buNone/>
            </a:pPr>
            <a:r>
              <a:rPr lang="en-US" sz="980" b="1">
                <a:solidFill>
                  <a:srgbClr val="12B8A6"/>
                </a:solidFill>
              </a:rPr>
              <a:t>7.6%</a:t>
            </a:r>
            <a:endParaRPr lang="en-US" sz="980"/>
          </a:p>
        </p:txBody>
      </p:sp>
      <p:sp>
        <p:nvSpPr>
          <p:cNvPr id="16" name="Text 14"/>
          <p:cNvSpPr/>
          <p:nvPr/>
        </p:nvSpPr>
        <p:spPr>
          <a:xfrm>
            <a:off x="896112" y="4041648"/>
            <a:ext cx="3291840" cy="256032"/>
          </a:xfrm>
          <a:prstGeom prst="rect">
            <a:avLst/>
          </a:prstGeom>
          <a:noFill/>
          <a:ln/>
        </p:spPr>
        <p:txBody>
          <a:bodyPr wrap="square" lIns="0" tIns="0" rIns="0" bIns="0" rtlCol="0" anchor="ctr"/>
          <a:lstStyle/>
          <a:p>
            <a:pPr marL="0" indent="0">
              <a:buNone/>
            </a:pPr>
            <a:r>
              <a:rPr lang="en-US" sz="1400" b="1">
                <a:solidFill>
                  <a:srgbClr val="0B1220"/>
                </a:solidFill>
              </a:rPr>
              <a:t>Low-income men are missed about 3× as often.</a:t>
            </a:r>
            <a:endParaRPr lang="en-US" sz="1400"/>
          </a:p>
        </p:txBody>
      </p:sp>
      <p:sp>
        <p:nvSpPr>
          <p:cNvPr id="17" name="Text 15"/>
          <p:cNvSpPr/>
          <p:nvPr/>
        </p:nvSpPr>
        <p:spPr>
          <a:xfrm>
            <a:off x="896112" y="4425696"/>
            <a:ext cx="3566160" cy="502920"/>
          </a:xfrm>
          <a:prstGeom prst="rect">
            <a:avLst/>
          </a:prstGeom>
          <a:noFill/>
          <a:ln/>
        </p:spPr>
        <p:txBody>
          <a:bodyPr wrap="square" lIns="0" tIns="0" rIns="0" bIns="0" rtlCol="0" anchor="ctr"/>
          <a:lstStyle/>
          <a:p>
            <a:pPr marL="0" indent="0">
              <a:buNone/>
            </a:pPr>
            <a:r>
              <a:rPr lang="en-US" sz="1050">
                <a:solidFill>
                  <a:srgbClr val="667085"/>
                </a:solidFill>
              </a:rPr>
              <a:t>Typical misses: older, married, full-time workers who still earn little.</a:t>
            </a:r>
            <a:endParaRPr lang="en-US" sz="1050"/>
          </a:p>
        </p:txBody>
      </p:sp>
      <p:sp>
        <p:nvSpPr>
          <p:cNvPr id="18" name="Shape 16"/>
          <p:cNvSpPr/>
          <p:nvPr/>
        </p:nvSpPr>
        <p:spPr>
          <a:xfrm>
            <a:off x="896112" y="5230368"/>
            <a:ext cx="2148840" cy="310896"/>
          </a:xfrm>
          <a:prstGeom prst="roundRect">
            <a:avLst>
              <a:gd name="adj" fmla="val 23529"/>
            </a:avLst>
          </a:prstGeom>
          <a:solidFill>
            <a:srgbClr val="EEF0FF"/>
          </a:solidFill>
          <a:ln w="12700">
            <a:solidFill>
              <a:srgbClr val="EEF0FF"/>
            </a:solidFill>
            <a:prstDash val="solid"/>
          </a:ln>
        </p:spPr>
        <p:txBody>
          <a:bodyPr/>
          <a:lstStyle/>
          <a:p>
            <a:endParaRPr lang="nl-NL"/>
          </a:p>
        </p:txBody>
      </p:sp>
      <p:sp>
        <p:nvSpPr>
          <p:cNvPr id="19" name="Text 17"/>
          <p:cNvSpPr/>
          <p:nvPr/>
        </p:nvSpPr>
        <p:spPr>
          <a:xfrm>
            <a:off x="969264" y="5280660"/>
            <a:ext cx="2002536" cy="182880"/>
          </a:xfrm>
          <a:prstGeom prst="rect">
            <a:avLst/>
          </a:prstGeom>
          <a:noFill/>
          <a:ln/>
        </p:spPr>
        <p:txBody>
          <a:bodyPr wrap="square" lIns="0" tIns="0" rIns="0" bIns="0" rtlCol="0" anchor="ctr"/>
          <a:lstStyle/>
          <a:p>
            <a:pPr marL="0" indent="0" algn="ctr">
              <a:buNone/>
            </a:pPr>
            <a:r>
              <a:rPr lang="en-US" sz="840" b="1">
                <a:solidFill>
                  <a:srgbClr val="5B5FEF"/>
                </a:solidFill>
              </a:rPr>
              <a:t>sex &amp; race NOT used as features</a:t>
            </a:r>
            <a:endParaRPr lang="en-US" sz="840"/>
          </a:p>
        </p:txBody>
      </p:sp>
      <p:sp>
        <p:nvSpPr>
          <p:cNvPr id="20" name="Shape 18"/>
          <p:cNvSpPr/>
          <p:nvPr/>
        </p:nvSpPr>
        <p:spPr>
          <a:xfrm>
            <a:off x="5715000" y="1417320"/>
            <a:ext cx="5897880" cy="4553712"/>
          </a:xfrm>
          <a:prstGeom prst="roundRect">
            <a:avLst>
              <a:gd name="adj" fmla="val 2410"/>
            </a:avLst>
          </a:prstGeom>
          <a:solidFill>
            <a:srgbClr val="0B1220"/>
          </a:solidFill>
          <a:ln w="12700">
            <a:solidFill>
              <a:srgbClr val="0B1220"/>
            </a:solidFill>
            <a:prstDash val="solid"/>
          </a:ln>
          <a:effectLst>
            <a:outerShdw blurRad="19050" dist="50800" dir="2700000" algn="bl" rotWithShape="0">
              <a:srgbClr val="BBC4D1">
                <a:alpha val="18000"/>
              </a:srgbClr>
            </a:outerShdw>
          </a:effectLst>
        </p:spPr>
        <p:txBody>
          <a:bodyPr/>
          <a:lstStyle/>
          <a:p>
            <a:endParaRPr lang="nl-NL"/>
          </a:p>
        </p:txBody>
      </p:sp>
      <p:sp>
        <p:nvSpPr>
          <p:cNvPr id="21" name="Text 19"/>
          <p:cNvSpPr/>
          <p:nvPr/>
        </p:nvSpPr>
        <p:spPr>
          <a:xfrm>
            <a:off x="6053328" y="1719072"/>
            <a:ext cx="2743200" cy="292608"/>
          </a:xfrm>
          <a:prstGeom prst="rect">
            <a:avLst/>
          </a:prstGeom>
          <a:noFill/>
          <a:ln/>
        </p:spPr>
        <p:txBody>
          <a:bodyPr wrap="square" lIns="0" tIns="0" rIns="0" bIns="0" rtlCol="0" anchor="ctr"/>
          <a:lstStyle/>
          <a:p>
            <a:pPr marL="0" indent="0">
              <a:buNone/>
            </a:pPr>
            <a:r>
              <a:rPr lang="en-US" sz="1800" b="1">
                <a:solidFill>
                  <a:srgbClr val="FFFFFF"/>
                </a:solidFill>
              </a:rPr>
              <a:t>Ethical risks we identified</a:t>
            </a:r>
            <a:endParaRPr lang="en-US" sz="1800"/>
          </a:p>
        </p:txBody>
      </p:sp>
      <p:sp>
        <p:nvSpPr>
          <p:cNvPr id="22" name="Shape 20"/>
          <p:cNvSpPr/>
          <p:nvPr/>
        </p:nvSpPr>
        <p:spPr>
          <a:xfrm>
            <a:off x="6053328" y="2331720"/>
            <a:ext cx="502920" cy="502920"/>
          </a:xfrm>
          <a:prstGeom prst="ellipse">
            <a:avLst/>
          </a:prstGeom>
          <a:solidFill>
            <a:srgbClr val="3A2530"/>
          </a:solidFill>
          <a:ln w="12700">
            <a:solidFill>
              <a:srgbClr val="FFFFFF">
                <a:alpha val="0"/>
              </a:srgbClr>
            </a:solidFill>
            <a:prstDash val="solid"/>
          </a:ln>
        </p:spPr>
        <p:txBody>
          <a:bodyPr/>
          <a:lstStyle/>
          <a:p>
            <a:endParaRPr lang="nl-NL"/>
          </a:p>
        </p:txBody>
      </p:sp>
      <p:pic>
        <p:nvPicPr>
          <p:cNvPr id="2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08776" y="2478024"/>
            <a:ext cx="192024" cy="192024"/>
          </a:xfrm>
          <a:prstGeom prst="rect">
            <a:avLst/>
          </a:prstGeom>
        </p:spPr>
      </p:pic>
      <p:sp>
        <p:nvSpPr>
          <p:cNvPr id="24" name="Text 21"/>
          <p:cNvSpPr/>
          <p:nvPr/>
        </p:nvSpPr>
        <p:spPr>
          <a:xfrm>
            <a:off x="6729984" y="2313432"/>
            <a:ext cx="1554480" cy="201168"/>
          </a:xfrm>
          <a:prstGeom prst="rect">
            <a:avLst/>
          </a:prstGeom>
          <a:noFill/>
          <a:ln/>
        </p:spPr>
        <p:txBody>
          <a:bodyPr wrap="square" lIns="0" tIns="0" rIns="0" bIns="0" rtlCol="0" anchor="ctr"/>
          <a:lstStyle/>
          <a:p>
            <a:pPr marL="0" indent="0">
              <a:buNone/>
            </a:pPr>
            <a:r>
              <a:rPr lang="en-US" sz="1100" b="1">
                <a:solidFill>
                  <a:srgbClr val="FFFFFF"/>
                </a:solidFill>
              </a:rPr>
              <a:t>Proxy bias</a:t>
            </a:r>
            <a:endParaRPr lang="en-US" sz="1100"/>
          </a:p>
        </p:txBody>
      </p:sp>
      <p:sp>
        <p:nvSpPr>
          <p:cNvPr id="25" name="Text 22"/>
          <p:cNvSpPr/>
          <p:nvPr/>
        </p:nvSpPr>
        <p:spPr>
          <a:xfrm>
            <a:off x="6729984" y="2596896"/>
            <a:ext cx="4251960" cy="420624"/>
          </a:xfrm>
          <a:prstGeom prst="rect">
            <a:avLst/>
          </a:prstGeom>
          <a:noFill/>
          <a:ln/>
        </p:spPr>
        <p:txBody>
          <a:bodyPr wrap="square" lIns="0" tIns="0" rIns="0" bIns="0" rtlCol="0" anchor="ctr"/>
          <a:lstStyle/>
          <a:p>
            <a:pPr marL="0" indent="0">
              <a:buNone/>
            </a:pPr>
            <a:r>
              <a:rPr lang="en-US" sz="910">
                <a:solidFill>
                  <a:srgbClr val="C7CFDB"/>
                </a:solidFill>
              </a:rPr>
              <a:t>relationship and marital.status still carry information related to sex.</a:t>
            </a:r>
            <a:endParaRPr lang="en-US" sz="910"/>
          </a:p>
        </p:txBody>
      </p:sp>
      <p:sp>
        <p:nvSpPr>
          <p:cNvPr id="26" name="Shape 23"/>
          <p:cNvSpPr/>
          <p:nvPr/>
        </p:nvSpPr>
        <p:spPr>
          <a:xfrm>
            <a:off x="6053328" y="3291840"/>
            <a:ext cx="502920" cy="502920"/>
          </a:xfrm>
          <a:prstGeom prst="ellipse">
            <a:avLst/>
          </a:prstGeom>
          <a:solidFill>
            <a:srgbClr val="233149"/>
          </a:solidFill>
          <a:ln w="12700">
            <a:solidFill>
              <a:srgbClr val="FFFFFF">
                <a:alpha val="0"/>
              </a:srgbClr>
            </a:solidFill>
            <a:prstDash val="solid"/>
          </a:ln>
        </p:spPr>
        <p:txBody>
          <a:bodyPr/>
          <a:lstStyle/>
          <a:p>
            <a:endParaRPr lang="nl-NL"/>
          </a:p>
        </p:txBody>
      </p:sp>
      <p:pic>
        <p:nvPicPr>
          <p:cNvPr id="2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8776" y="3438144"/>
            <a:ext cx="192024" cy="192024"/>
          </a:xfrm>
          <a:prstGeom prst="rect">
            <a:avLst/>
          </a:prstGeom>
        </p:spPr>
      </p:pic>
      <p:sp>
        <p:nvSpPr>
          <p:cNvPr id="28" name="Text 24"/>
          <p:cNvSpPr/>
          <p:nvPr/>
        </p:nvSpPr>
        <p:spPr>
          <a:xfrm>
            <a:off x="6729984" y="3273552"/>
            <a:ext cx="1554480" cy="201168"/>
          </a:xfrm>
          <a:prstGeom prst="rect">
            <a:avLst/>
          </a:prstGeom>
          <a:noFill/>
          <a:ln/>
        </p:spPr>
        <p:txBody>
          <a:bodyPr wrap="square" lIns="0" tIns="0" rIns="0" bIns="0" rtlCol="0" anchor="ctr"/>
          <a:lstStyle/>
          <a:p>
            <a:pPr marL="0" indent="0">
              <a:buNone/>
            </a:pPr>
            <a:r>
              <a:rPr lang="en-US" sz="1100" b="1">
                <a:solidFill>
                  <a:srgbClr val="FFFFFF"/>
                </a:solidFill>
              </a:rPr>
              <a:t>Outdated population</a:t>
            </a:r>
            <a:endParaRPr lang="en-US" sz="1100"/>
          </a:p>
        </p:txBody>
      </p:sp>
      <p:sp>
        <p:nvSpPr>
          <p:cNvPr id="29" name="Text 25"/>
          <p:cNvSpPr/>
          <p:nvPr/>
        </p:nvSpPr>
        <p:spPr>
          <a:xfrm>
            <a:off x="6729984" y="3557016"/>
            <a:ext cx="4251960" cy="420624"/>
          </a:xfrm>
          <a:prstGeom prst="rect">
            <a:avLst/>
          </a:prstGeom>
          <a:noFill/>
          <a:ln/>
        </p:spPr>
        <p:txBody>
          <a:bodyPr wrap="square" lIns="0" tIns="0" rIns="0" bIns="0" rtlCol="0" anchor="ctr"/>
          <a:lstStyle/>
          <a:p>
            <a:pPr marL="0" indent="0">
              <a:buNone/>
            </a:pPr>
            <a:r>
              <a:rPr lang="en-US" sz="910">
                <a:solidFill>
                  <a:srgbClr val="C7CFDB"/>
                </a:solidFill>
              </a:rPr>
              <a:t>1994 US data should not be used for Dutch or present-day populations as-is.</a:t>
            </a:r>
            <a:endParaRPr lang="en-US" sz="910"/>
          </a:p>
        </p:txBody>
      </p:sp>
      <p:sp>
        <p:nvSpPr>
          <p:cNvPr id="30" name="Shape 26"/>
          <p:cNvSpPr/>
          <p:nvPr/>
        </p:nvSpPr>
        <p:spPr>
          <a:xfrm>
            <a:off x="6053328" y="4251960"/>
            <a:ext cx="502920" cy="502920"/>
          </a:xfrm>
          <a:prstGeom prst="ellipse">
            <a:avLst/>
          </a:prstGeom>
          <a:solidFill>
            <a:srgbClr val="24372F"/>
          </a:solidFill>
          <a:ln w="12700">
            <a:solidFill>
              <a:srgbClr val="FFFFFF">
                <a:alpha val="0"/>
              </a:srgbClr>
            </a:solidFill>
            <a:prstDash val="solid"/>
          </a:ln>
        </p:spPr>
        <p:txBody>
          <a:bodyPr/>
          <a:lstStyle/>
          <a:p>
            <a:endParaRPr lang="nl-NL"/>
          </a:p>
        </p:txBody>
      </p:sp>
      <p:pic>
        <p:nvPicPr>
          <p:cNvPr id="3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08776" y="4398264"/>
            <a:ext cx="192024" cy="192024"/>
          </a:xfrm>
          <a:prstGeom prst="rect">
            <a:avLst/>
          </a:prstGeom>
        </p:spPr>
      </p:pic>
      <p:sp>
        <p:nvSpPr>
          <p:cNvPr id="32" name="Text 27"/>
          <p:cNvSpPr/>
          <p:nvPr/>
        </p:nvSpPr>
        <p:spPr>
          <a:xfrm>
            <a:off x="6729984" y="4233672"/>
            <a:ext cx="1554480" cy="201168"/>
          </a:xfrm>
          <a:prstGeom prst="rect">
            <a:avLst/>
          </a:prstGeom>
          <a:noFill/>
          <a:ln/>
        </p:spPr>
        <p:txBody>
          <a:bodyPr wrap="square" lIns="0" tIns="0" rIns="0" bIns="0" rtlCol="0" anchor="ctr"/>
          <a:lstStyle/>
          <a:p>
            <a:pPr marL="0" indent="0">
              <a:buNone/>
            </a:pPr>
            <a:r>
              <a:rPr lang="en-US" sz="1100" b="1">
                <a:solidFill>
                  <a:srgbClr val="FFFFFF"/>
                </a:solidFill>
              </a:rPr>
              <a:t>Consent &amp; privacy</a:t>
            </a:r>
            <a:endParaRPr lang="en-US" sz="1100"/>
          </a:p>
        </p:txBody>
      </p:sp>
      <p:sp>
        <p:nvSpPr>
          <p:cNvPr id="33" name="Text 28"/>
          <p:cNvSpPr/>
          <p:nvPr/>
        </p:nvSpPr>
        <p:spPr>
          <a:xfrm>
            <a:off x="6729984" y="4517136"/>
            <a:ext cx="4251960" cy="420624"/>
          </a:xfrm>
          <a:prstGeom prst="rect">
            <a:avLst/>
          </a:prstGeom>
          <a:noFill/>
          <a:ln/>
        </p:spPr>
        <p:txBody>
          <a:bodyPr wrap="square" lIns="0" tIns="0" rIns="0" bIns="0" rtlCol="0" anchor="ctr"/>
          <a:lstStyle/>
          <a:p>
            <a:pPr marL="0" indent="0">
              <a:buNone/>
            </a:pPr>
            <a:r>
              <a:rPr lang="en-US" sz="910">
                <a:solidFill>
                  <a:srgbClr val="C7CFDB"/>
                </a:solidFill>
              </a:rPr>
              <a:t>Census participants did not consent to this use; financial data needs a legal basis.</a:t>
            </a:r>
            <a:endParaRPr lang="en-US" sz="910"/>
          </a:p>
        </p:txBody>
      </p:sp>
      <p:sp>
        <p:nvSpPr>
          <p:cNvPr id="34" name="Shape 29"/>
          <p:cNvSpPr/>
          <p:nvPr/>
        </p:nvSpPr>
        <p:spPr>
          <a:xfrm>
            <a:off x="6053328" y="5230368"/>
            <a:ext cx="5010912" cy="502920"/>
          </a:xfrm>
          <a:prstGeom prst="roundRect">
            <a:avLst>
              <a:gd name="adj" fmla="val 9091"/>
            </a:avLst>
          </a:prstGeom>
          <a:solidFill>
            <a:srgbClr val="1D3350"/>
          </a:solidFill>
          <a:ln w="12700">
            <a:solidFill>
              <a:srgbClr val="1D3350"/>
            </a:solidFill>
            <a:prstDash val="solid"/>
          </a:ln>
        </p:spPr>
        <p:txBody>
          <a:bodyPr/>
          <a:lstStyle/>
          <a:p>
            <a:endParaRPr lang="nl-NL"/>
          </a:p>
        </p:txBody>
      </p:sp>
      <p:sp>
        <p:nvSpPr>
          <p:cNvPr id="35" name="Text 30"/>
          <p:cNvSpPr/>
          <p:nvPr/>
        </p:nvSpPr>
        <p:spPr>
          <a:xfrm>
            <a:off x="6236208" y="5376672"/>
            <a:ext cx="4645152" cy="182880"/>
          </a:xfrm>
          <a:prstGeom prst="rect">
            <a:avLst/>
          </a:prstGeom>
          <a:noFill/>
          <a:ln/>
        </p:spPr>
        <p:txBody>
          <a:bodyPr wrap="square" lIns="0" tIns="0" rIns="0" bIns="0" rtlCol="0" anchor="ctr"/>
          <a:lstStyle/>
          <a:p>
            <a:pPr marL="0" indent="0" algn="ctr">
              <a:buNone/>
            </a:pPr>
            <a:r>
              <a:rPr lang="en-US" sz="970" b="1">
                <a:solidFill>
                  <a:srgbClr val="DCE4FF"/>
                </a:solidFill>
              </a:rPr>
              <a:t>Use the model to support outreach decisions — never to replace human judgement.</a:t>
            </a:r>
            <a:endParaRPr lang="en-US" sz="970"/>
          </a:p>
        </p:txBody>
      </p:sp>
      <p:sp>
        <p:nvSpPr>
          <p:cNvPr id="36" name="Text 31"/>
          <p:cNvSpPr/>
          <p:nvPr/>
        </p:nvSpPr>
        <p:spPr>
          <a:xfrm>
            <a:off x="566928" y="6336792"/>
            <a:ext cx="10561320" cy="137160"/>
          </a:xfrm>
          <a:prstGeom prst="rect">
            <a:avLst/>
          </a:prstGeom>
          <a:noFill/>
          <a:ln/>
        </p:spPr>
        <p:txBody>
          <a:bodyPr wrap="square" lIns="0" tIns="0" rIns="0" bIns="0" rtlCol="0" anchor="ctr"/>
          <a:lstStyle/>
          <a:p>
            <a:pPr marL="0" indent="0">
              <a:buNone/>
            </a:pPr>
            <a:r>
              <a:rPr lang="en-US" sz="650">
                <a:solidFill>
                  <a:srgbClr val="8A94A6"/>
                </a:solidFill>
              </a:rPr>
              <a:t>Subgroup check from the project test set: men FNR 23.9%; women FNR 7.6%.</a:t>
            </a:r>
            <a:endParaRPr lang="en-US" sz="650"/>
          </a:p>
        </p:txBody>
      </p:sp>
      <p:sp>
        <p:nvSpPr>
          <p:cNvPr id="37"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384048"/>
            <a:ext cx="8138160" cy="457200"/>
          </a:xfrm>
          <a:prstGeom prst="rect">
            <a:avLst/>
          </a:prstGeom>
          <a:noFill/>
          <a:ln/>
        </p:spPr>
        <p:txBody>
          <a:bodyPr wrap="square" lIns="0" tIns="0" rIns="0" bIns="0" rtlCol="0" anchor="ctr"/>
          <a:lstStyle/>
          <a:p>
            <a:pPr marL="0" indent="0">
              <a:buNone/>
            </a:pPr>
            <a:r>
              <a:rPr lang="en-US" sz="2700" b="1">
                <a:solidFill>
                  <a:srgbClr val="0B1220"/>
                </a:solidFill>
                <a:latin typeface="Aptos Display" pitchFamily="34" charset="0"/>
                <a:ea typeface="Aptos Display" pitchFamily="34" charset="-122"/>
                <a:cs typeface="Aptos Display" pitchFamily="34" charset="-120"/>
              </a:rPr>
              <a:t>Live prediction</a:t>
            </a:r>
            <a:endParaRPr lang="en-US" sz="2700"/>
          </a:p>
        </p:txBody>
      </p:sp>
      <p:sp>
        <p:nvSpPr>
          <p:cNvPr id="3" name="Text 1"/>
          <p:cNvSpPr/>
          <p:nvPr/>
        </p:nvSpPr>
        <p:spPr>
          <a:xfrm>
            <a:off x="548640" y="859536"/>
            <a:ext cx="9966960" cy="256032"/>
          </a:xfrm>
          <a:prstGeom prst="rect">
            <a:avLst/>
          </a:prstGeom>
          <a:noFill/>
          <a:ln/>
        </p:spPr>
        <p:txBody>
          <a:bodyPr wrap="square" lIns="0" tIns="0" rIns="0" bIns="0" rtlCol="0" anchor="ctr"/>
          <a:lstStyle/>
          <a:p>
            <a:pPr marL="0" indent="0">
              <a:buNone/>
            </a:pPr>
            <a:r>
              <a:rPr lang="en-US" sz="1050">
                <a:solidFill>
                  <a:srgbClr val="667085"/>
                </a:solidFill>
              </a:rPr>
              <a:t>A new case returns both a class and a probability</a:t>
            </a:r>
            <a:endParaRPr lang="en-US" sz="1050"/>
          </a:p>
        </p:txBody>
      </p:sp>
      <p:sp>
        <p:nvSpPr>
          <p:cNvPr id="4" name="Shape 2"/>
          <p:cNvSpPr/>
          <p:nvPr/>
        </p:nvSpPr>
        <p:spPr>
          <a:xfrm>
            <a:off x="530352" y="1152144"/>
            <a:ext cx="11109960" cy="0"/>
          </a:xfrm>
          <a:prstGeom prst="line">
            <a:avLst/>
          </a:prstGeom>
          <a:noFill/>
          <a:ln w="12700">
            <a:solidFill>
              <a:srgbClr val="DFE4EC"/>
            </a:solidFill>
            <a:prstDash val="solid"/>
          </a:ln>
        </p:spPr>
        <p:txBody>
          <a:bodyPr/>
          <a:lstStyle/>
          <a:p>
            <a:endParaRPr lang="nl-NL"/>
          </a:p>
        </p:txBody>
      </p:sp>
      <p:sp>
        <p:nvSpPr>
          <p:cNvPr id="5" name="Shape 3"/>
          <p:cNvSpPr/>
          <p:nvPr/>
        </p:nvSpPr>
        <p:spPr>
          <a:xfrm>
            <a:off x="566928" y="1481328"/>
            <a:ext cx="5394960" cy="4370832"/>
          </a:xfrm>
          <a:prstGeom prst="roundRect">
            <a:avLst>
              <a:gd name="adj" fmla="val 2510"/>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6" name="Shape 4"/>
          <p:cNvSpPr/>
          <p:nvPr/>
        </p:nvSpPr>
        <p:spPr>
          <a:xfrm>
            <a:off x="896112" y="1773936"/>
            <a:ext cx="749808" cy="310896"/>
          </a:xfrm>
          <a:prstGeom prst="roundRect">
            <a:avLst>
              <a:gd name="adj" fmla="val 23529"/>
            </a:avLst>
          </a:prstGeom>
          <a:solidFill>
            <a:srgbClr val="EAFBF7"/>
          </a:solidFill>
          <a:ln w="12700">
            <a:solidFill>
              <a:srgbClr val="EAFBF7"/>
            </a:solidFill>
            <a:prstDash val="solid"/>
          </a:ln>
        </p:spPr>
        <p:txBody>
          <a:bodyPr/>
          <a:lstStyle/>
          <a:p>
            <a:endParaRPr lang="nl-NL"/>
          </a:p>
        </p:txBody>
      </p:sp>
      <p:sp>
        <p:nvSpPr>
          <p:cNvPr id="7" name="Text 5"/>
          <p:cNvSpPr/>
          <p:nvPr/>
        </p:nvSpPr>
        <p:spPr>
          <a:xfrm>
            <a:off x="969264" y="1824228"/>
            <a:ext cx="603504" cy="182880"/>
          </a:xfrm>
          <a:prstGeom prst="rect">
            <a:avLst/>
          </a:prstGeom>
          <a:noFill/>
          <a:ln/>
        </p:spPr>
        <p:txBody>
          <a:bodyPr wrap="square" lIns="0" tIns="0" rIns="0" bIns="0" rtlCol="0" anchor="ctr"/>
          <a:lstStyle/>
          <a:p>
            <a:pPr marL="0" indent="0" algn="ctr">
              <a:buNone/>
            </a:pPr>
            <a:r>
              <a:rPr lang="en-US" sz="840" b="1">
                <a:solidFill>
                  <a:srgbClr val="12B8A6"/>
                </a:solidFill>
              </a:rPr>
              <a:t>CASE 1</a:t>
            </a:r>
            <a:endParaRPr lang="en-US" sz="840"/>
          </a:p>
        </p:txBody>
      </p:sp>
      <p:sp>
        <p:nvSpPr>
          <p:cNvPr id="8" name="Shape 6"/>
          <p:cNvSpPr/>
          <p:nvPr/>
        </p:nvSpPr>
        <p:spPr>
          <a:xfrm>
            <a:off x="914400" y="2331720"/>
            <a:ext cx="841248" cy="841248"/>
          </a:xfrm>
          <a:prstGeom prst="ellipse">
            <a:avLst/>
          </a:prstGeom>
          <a:solidFill>
            <a:srgbClr val="EAFBF7"/>
          </a:solidFill>
          <a:ln w="12700">
            <a:solidFill>
              <a:srgbClr val="EAFBF7"/>
            </a:solidFill>
            <a:prstDash val="solid"/>
          </a:ln>
        </p:spPr>
        <p:txBody>
          <a:bodyPr/>
          <a:lstStyle/>
          <a:p>
            <a:endParaRPr lang="nl-NL"/>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560320"/>
            <a:ext cx="384048" cy="384048"/>
          </a:xfrm>
          <a:prstGeom prst="rect">
            <a:avLst/>
          </a:prstGeom>
        </p:spPr>
      </p:pic>
      <p:sp>
        <p:nvSpPr>
          <p:cNvPr id="10" name="Text 7"/>
          <p:cNvSpPr/>
          <p:nvPr/>
        </p:nvSpPr>
        <p:spPr>
          <a:xfrm>
            <a:off x="1984248" y="2395728"/>
            <a:ext cx="3337560" cy="292608"/>
          </a:xfrm>
          <a:prstGeom prst="rect">
            <a:avLst/>
          </a:prstGeom>
          <a:noFill/>
          <a:ln/>
        </p:spPr>
        <p:txBody>
          <a:bodyPr wrap="square" lIns="0" tIns="0" rIns="0" bIns="0" rtlCol="0" anchor="ctr"/>
          <a:lstStyle/>
          <a:p>
            <a:pPr marL="0" indent="0">
              <a:buNone/>
            </a:pPr>
            <a:r>
              <a:rPr lang="en-US" sz="1700" b="1">
                <a:solidFill>
                  <a:srgbClr val="0B1220"/>
                </a:solidFill>
              </a:rPr>
              <a:t>29 · unmarried · part-time services</a:t>
            </a:r>
            <a:endParaRPr lang="en-US" sz="1700"/>
          </a:p>
        </p:txBody>
      </p:sp>
      <p:sp>
        <p:nvSpPr>
          <p:cNvPr id="11" name="Text 8"/>
          <p:cNvSpPr/>
          <p:nvPr/>
        </p:nvSpPr>
        <p:spPr>
          <a:xfrm>
            <a:off x="1993392" y="2798064"/>
            <a:ext cx="3246120" cy="384048"/>
          </a:xfrm>
          <a:prstGeom prst="rect">
            <a:avLst/>
          </a:prstGeom>
          <a:noFill/>
          <a:ln/>
        </p:spPr>
        <p:txBody>
          <a:bodyPr wrap="square" lIns="0" tIns="0" rIns="0" bIns="0" rtlCol="0" anchor="ctr"/>
          <a:lstStyle/>
          <a:p>
            <a:pPr marL="0" indent="0">
              <a:buNone/>
            </a:pPr>
            <a:r>
              <a:rPr lang="en-US" sz="950">
                <a:solidFill>
                  <a:srgbClr val="667085"/>
                </a:solidFill>
              </a:rPr>
              <a:t>30 hours/week · education.num 9 · no capital gain/loss</a:t>
            </a:r>
            <a:endParaRPr lang="en-US" sz="950"/>
          </a:p>
        </p:txBody>
      </p:sp>
      <p:sp>
        <p:nvSpPr>
          <p:cNvPr id="12" name="Text 9"/>
          <p:cNvSpPr/>
          <p:nvPr/>
        </p:nvSpPr>
        <p:spPr>
          <a:xfrm>
            <a:off x="914400" y="3721608"/>
            <a:ext cx="1554480" cy="530352"/>
          </a:xfrm>
          <a:prstGeom prst="rect">
            <a:avLst/>
          </a:prstGeom>
          <a:noFill/>
          <a:ln/>
        </p:spPr>
        <p:txBody>
          <a:bodyPr wrap="square" lIns="0" tIns="0" rIns="0" bIns="0" rtlCol="0" anchor="ctr"/>
          <a:lstStyle/>
          <a:p>
            <a:pPr marL="0" indent="0">
              <a:buNone/>
            </a:pPr>
            <a:r>
              <a:rPr lang="en-US" sz="3400" b="1">
                <a:solidFill>
                  <a:srgbClr val="12B8A6"/>
                </a:solidFill>
              </a:rPr>
              <a:t>99.4%</a:t>
            </a:r>
            <a:endParaRPr lang="en-US" sz="3400"/>
          </a:p>
        </p:txBody>
      </p:sp>
      <p:sp>
        <p:nvSpPr>
          <p:cNvPr id="13" name="Text 10"/>
          <p:cNvSpPr/>
          <p:nvPr/>
        </p:nvSpPr>
        <p:spPr>
          <a:xfrm>
            <a:off x="2377440" y="3904488"/>
            <a:ext cx="2286000" cy="201168"/>
          </a:xfrm>
          <a:prstGeom prst="rect">
            <a:avLst/>
          </a:prstGeom>
          <a:noFill/>
          <a:ln/>
        </p:spPr>
        <p:txBody>
          <a:bodyPr wrap="square" lIns="0" tIns="0" rIns="0" bIns="0" rtlCol="0" anchor="ctr"/>
          <a:lstStyle/>
          <a:p>
            <a:pPr marL="0" indent="0">
              <a:buNone/>
            </a:pPr>
            <a:r>
              <a:rPr lang="en-US" sz="1000">
                <a:solidFill>
                  <a:srgbClr val="667085"/>
                </a:solidFill>
              </a:rPr>
              <a:t>probability of low income</a:t>
            </a:r>
            <a:endParaRPr lang="en-US" sz="1000"/>
          </a:p>
        </p:txBody>
      </p:sp>
      <p:sp>
        <p:nvSpPr>
          <p:cNvPr id="14" name="Shape 11"/>
          <p:cNvSpPr/>
          <p:nvPr/>
        </p:nvSpPr>
        <p:spPr>
          <a:xfrm>
            <a:off x="914400" y="4480560"/>
            <a:ext cx="4297680" cy="566928"/>
          </a:xfrm>
          <a:prstGeom prst="roundRect">
            <a:avLst>
              <a:gd name="adj" fmla="val 9677"/>
            </a:avLst>
          </a:prstGeom>
          <a:solidFill>
            <a:srgbClr val="EAFBF7"/>
          </a:solidFill>
          <a:ln w="12700">
            <a:solidFill>
              <a:srgbClr val="B8EEE4"/>
            </a:solidFill>
            <a:prstDash val="solid"/>
          </a:ln>
        </p:spPr>
        <p:txBody>
          <a:bodyPr/>
          <a:lstStyle/>
          <a:p>
            <a:endParaRPr lang="nl-NL"/>
          </a:p>
        </p:txBody>
      </p:sp>
      <p:sp>
        <p:nvSpPr>
          <p:cNvPr id="15" name="Text 12"/>
          <p:cNvSpPr/>
          <p:nvPr/>
        </p:nvSpPr>
        <p:spPr>
          <a:xfrm>
            <a:off x="1097280" y="4645152"/>
            <a:ext cx="1143000" cy="182880"/>
          </a:xfrm>
          <a:prstGeom prst="rect">
            <a:avLst/>
          </a:prstGeom>
          <a:noFill/>
          <a:ln/>
        </p:spPr>
        <p:txBody>
          <a:bodyPr wrap="square" lIns="0" tIns="0" rIns="0" bIns="0" rtlCol="0" anchor="ctr"/>
          <a:lstStyle/>
          <a:p>
            <a:pPr marL="0" indent="0">
              <a:buNone/>
            </a:pPr>
            <a:r>
              <a:rPr lang="en-US" sz="1100" b="1">
                <a:solidFill>
                  <a:srgbClr val="12B8A6"/>
                </a:solidFill>
              </a:rPr>
              <a:t>APPROACH</a:t>
            </a:r>
            <a:endParaRPr lang="en-US" sz="1100"/>
          </a:p>
        </p:txBody>
      </p:sp>
      <p:sp>
        <p:nvSpPr>
          <p:cNvPr id="16" name="Text 13"/>
          <p:cNvSpPr/>
          <p:nvPr/>
        </p:nvSpPr>
        <p:spPr>
          <a:xfrm>
            <a:off x="3337560" y="4645152"/>
            <a:ext cx="1554480" cy="182880"/>
          </a:xfrm>
          <a:prstGeom prst="rect">
            <a:avLst/>
          </a:prstGeom>
          <a:noFill/>
          <a:ln/>
        </p:spPr>
        <p:txBody>
          <a:bodyPr wrap="square" lIns="0" tIns="0" rIns="0" bIns="0" rtlCol="0" anchor="ctr"/>
          <a:lstStyle/>
          <a:p>
            <a:pPr marL="0" indent="0" algn="r">
              <a:buNone/>
            </a:pPr>
            <a:r>
              <a:rPr lang="en-US" sz="1000" b="1">
                <a:solidFill>
                  <a:srgbClr val="182230"/>
                </a:solidFill>
              </a:rPr>
              <a:t>Predicted ≤50K</a:t>
            </a:r>
            <a:endParaRPr lang="en-US" sz="1000"/>
          </a:p>
        </p:txBody>
      </p:sp>
      <p:sp>
        <p:nvSpPr>
          <p:cNvPr id="17" name="Shape 14"/>
          <p:cNvSpPr/>
          <p:nvPr/>
        </p:nvSpPr>
        <p:spPr>
          <a:xfrm>
            <a:off x="6217920" y="1481328"/>
            <a:ext cx="5394960" cy="4370832"/>
          </a:xfrm>
          <a:prstGeom prst="roundRect">
            <a:avLst>
              <a:gd name="adj" fmla="val 2510"/>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8" name="Shape 15"/>
          <p:cNvSpPr/>
          <p:nvPr/>
        </p:nvSpPr>
        <p:spPr>
          <a:xfrm>
            <a:off x="6547104" y="1773936"/>
            <a:ext cx="749808" cy="310896"/>
          </a:xfrm>
          <a:prstGeom prst="roundRect">
            <a:avLst>
              <a:gd name="adj" fmla="val 23529"/>
            </a:avLst>
          </a:prstGeom>
          <a:solidFill>
            <a:srgbClr val="FFF6E6"/>
          </a:solidFill>
          <a:ln w="12700">
            <a:solidFill>
              <a:srgbClr val="FFF6E6"/>
            </a:solidFill>
            <a:prstDash val="solid"/>
          </a:ln>
        </p:spPr>
        <p:txBody>
          <a:bodyPr/>
          <a:lstStyle/>
          <a:p>
            <a:endParaRPr lang="nl-NL"/>
          </a:p>
        </p:txBody>
      </p:sp>
      <p:sp>
        <p:nvSpPr>
          <p:cNvPr id="19" name="Text 16"/>
          <p:cNvSpPr/>
          <p:nvPr/>
        </p:nvSpPr>
        <p:spPr>
          <a:xfrm>
            <a:off x="6620256" y="1824228"/>
            <a:ext cx="603504" cy="182880"/>
          </a:xfrm>
          <a:prstGeom prst="rect">
            <a:avLst/>
          </a:prstGeom>
          <a:noFill/>
          <a:ln/>
        </p:spPr>
        <p:txBody>
          <a:bodyPr wrap="square" lIns="0" tIns="0" rIns="0" bIns="0" rtlCol="0" anchor="ctr"/>
          <a:lstStyle/>
          <a:p>
            <a:pPr marL="0" indent="0" algn="ctr">
              <a:buNone/>
            </a:pPr>
            <a:r>
              <a:rPr lang="en-US" sz="840" b="1">
                <a:solidFill>
                  <a:srgbClr val="F59E0B"/>
                </a:solidFill>
              </a:rPr>
              <a:t>CASE 2</a:t>
            </a:r>
            <a:endParaRPr lang="en-US" sz="840"/>
          </a:p>
        </p:txBody>
      </p:sp>
      <p:sp>
        <p:nvSpPr>
          <p:cNvPr id="20" name="Shape 17"/>
          <p:cNvSpPr/>
          <p:nvPr/>
        </p:nvSpPr>
        <p:spPr>
          <a:xfrm>
            <a:off x="6565392" y="2331720"/>
            <a:ext cx="841248" cy="841248"/>
          </a:xfrm>
          <a:prstGeom prst="ellipse">
            <a:avLst/>
          </a:prstGeom>
          <a:solidFill>
            <a:srgbClr val="FFF6E6"/>
          </a:solidFill>
          <a:ln w="12700">
            <a:solidFill>
              <a:srgbClr val="FFF6E6"/>
            </a:solidFill>
            <a:prstDash val="solid"/>
          </a:ln>
        </p:spPr>
        <p:txBody>
          <a:bodyPr/>
          <a:lstStyle/>
          <a:p>
            <a:endParaRPr lang="nl-NL"/>
          </a:p>
        </p:txBody>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93992" y="2560320"/>
            <a:ext cx="384048" cy="384048"/>
          </a:xfrm>
          <a:prstGeom prst="rect">
            <a:avLst/>
          </a:prstGeom>
        </p:spPr>
      </p:pic>
      <p:sp>
        <p:nvSpPr>
          <p:cNvPr id="22" name="Text 18"/>
          <p:cNvSpPr/>
          <p:nvPr/>
        </p:nvSpPr>
        <p:spPr>
          <a:xfrm>
            <a:off x="7626096" y="2395728"/>
            <a:ext cx="3291840" cy="292608"/>
          </a:xfrm>
          <a:prstGeom prst="rect">
            <a:avLst/>
          </a:prstGeom>
          <a:noFill/>
          <a:ln/>
        </p:spPr>
        <p:txBody>
          <a:bodyPr wrap="square" lIns="0" tIns="0" rIns="0" bIns="0" rtlCol="0" anchor="ctr"/>
          <a:lstStyle/>
          <a:p>
            <a:pPr marL="0" indent="0">
              <a:buNone/>
            </a:pPr>
            <a:r>
              <a:rPr lang="en-US" sz="1700" b="1">
                <a:solidFill>
                  <a:srgbClr val="0B1220"/>
                </a:solidFill>
              </a:rPr>
              <a:t>47 · married man · full-time craft</a:t>
            </a:r>
            <a:endParaRPr lang="en-US" sz="1700"/>
          </a:p>
        </p:txBody>
      </p:sp>
      <p:sp>
        <p:nvSpPr>
          <p:cNvPr id="23" name="Text 19"/>
          <p:cNvSpPr/>
          <p:nvPr/>
        </p:nvSpPr>
        <p:spPr>
          <a:xfrm>
            <a:off x="7635240" y="2798064"/>
            <a:ext cx="3200400" cy="384048"/>
          </a:xfrm>
          <a:prstGeom prst="rect">
            <a:avLst/>
          </a:prstGeom>
          <a:noFill/>
          <a:ln/>
        </p:spPr>
        <p:txBody>
          <a:bodyPr wrap="square" lIns="0" tIns="0" rIns="0" bIns="0" rtlCol="0" anchor="ctr"/>
          <a:lstStyle/>
          <a:p>
            <a:pPr marL="0" indent="0">
              <a:buNone/>
            </a:pPr>
            <a:r>
              <a:rPr lang="en-US" sz="950">
                <a:solidFill>
                  <a:srgbClr val="667085"/>
                </a:solidFill>
              </a:rPr>
              <a:t>40 hours/week · education.num 9 · no capital gain/loss</a:t>
            </a:r>
            <a:endParaRPr lang="en-US" sz="950"/>
          </a:p>
        </p:txBody>
      </p:sp>
      <p:sp>
        <p:nvSpPr>
          <p:cNvPr id="24" name="Text 20"/>
          <p:cNvSpPr/>
          <p:nvPr/>
        </p:nvSpPr>
        <p:spPr>
          <a:xfrm>
            <a:off x="6565392" y="3721608"/>
            <a:ext cx="1554480" cy="530352"/>
          </a:xfrm>
          <a:prstGeom prst="rect">
            <a:avLst/>
          </a:prstGeom>
          <a:noFill/>
          <a:ln/>
        </p:spPr>
        <p:txBody>
          <a:bodyPr wrap="square" lIns="0" tIns="0" rIns="0" bIns="0" rtlCol="0" anchor="ctr"/>
          <a:lstStyle/>
          <a:p>
            <a:pPr marL="0" indent="0">
              <a:buNone/>
            </a:pPr>
            <a:r>
              <a:rPr lang="en-US" sz="3400" b="1">
                <a:solidFill>
                  <a:srgbClr val="F59E0B"/>
                </a:solidFill>
              </a:rPr>
              <a:t>38.8%</a:t>
            </a:r>
            <a:endParaRPr lang="en-US" sz="3400"/>
          </a:p>
        </p:txBody>
      </p:sp>
      <p:sp>
        <p:nvSpPr>
          <p:cNvPr id="25" name="Text 21"/>
          <p:cNvSpPr/>
          <p:nvPr/>
        </p:nvSpPr>
        <p:spPr>
          <a:xfrm>
            <a:off x="8065008" y="3904488"/>
            <a:ext cx="2286000" cy="201168"/>
          </a:xfrm>
          <a:prstGeom prst="rect">
            <a:avLst/>
          </a:prstGeom>
          <a:noFill/>
          <a:ln/>
        </p:spPr>
        <p:txBody>
          <a:bodyPr wrap="square" lIns="0" tIns="0" rIns="0" bIns="0" rtlCol="0" anchor="ctr"/>
          <a:lstStyle/>
          <a:p>
            <a:pPr marL="0" indent="0">
              <a:buNone/>
            </a:pPr>
            <a:r>
              <a:rPr lang="en-US" sz="1000">
                <a:solidFill>
                  <a:srgbClr val="667085"/>
                </a:solidFill>
              </a:rPr>
              <a:t>probability of low income</a:t>
            </a:r>
            <a:endParaRPr lang="en-US" sz="1000"/>
          </a:p>
        </p:txBody>
      </p:sp>
      <p:sp>
        <p:nvSpPr>
          <p:cNvPr id="26" name="Shape 22"/>
          <p:cNvSpPr/>
          <p:nvPr/>
        </p:nvSpPr>
        <p:spPr>
          <a:xfrm>
            <a:off x="6565392" y="4480560"/>
            <a:ext cx="4297680" cy="566928"/>
          </a:xfrm>
          <a:prstGeom prst="roundRect">
            <a:avLst>
              <a:gd name="adj" fmla="val 9677"/>
            </a:avLst>
          </a:prstGeom>
          <a:solidFill>
            <a:srgbClr val="FFF6E6"/>
          </a:solidFill>
          <a:ln w="12700">
            <a:solidFill>
              <a:srgbClr val="F7DCA9"/>
            </a:solidFill>
            <a:prstDash val="solid"/>
          </a:ln>
        </p:spPr>
        <p:txBody>
          <a:bodyPr/>
          <a:lstStyle/>
          <a:p>
            <a:endParaRPr lang="nl-NL"/>
          </a:p>
        </p:txBody>
      </p:sp>
      <p:sp>
        <p:nvSpPr>
          <p:cNvPr id="27" name="Text 23"/>
          <p:cNvSpPr/>
          <p:nvPr/>
        </p:nvSpPr>
        <p:spPr>
          <a:xfrm>
            <a:off x="6748272" y="4645152"/>
            <a:ext cx="1554480" cy="182880"/>
          </a:xfrm>
          <a:prstGeom prst="rect">
            <a:avLst/>
          </a:prstGeom>
          <a:noFill/>
          <a:ln/>
        </p:spPr>
        <p:txBody>
          <a:bodyPr wrap="square" lIns="0" tIns="0" rIns="0" bIns="0" rtlCol="0" anchor="ctr"/>
          <a:lstStyle/>
          <a:p>
            <a:pPr marL="0" indent="0">
              <a:buNone/>
            </a:pPr>
            <a:r>
              <a:rPr lang="en-US" sz="1050" b="1">
                <a:solidFill>
                  <a:srgbClr val="F59E0B"/>
                </a:solidFill>
              </a:rPr>
              <a:t>DO NOT APPROACH</a:t>
            </a:r>
            <a:endParaRPr lang="en-US" sz="1050"/>
          </a:p>
        </p:txBody>
      </p:sp>
      <p:sp>
        <p:nvSpPr>
          <p:cNvPr id="28" name="Text 24"/>
          <p:cNvSpPr/>
          <p:nvPr/>
        </p:nvSpPr>
        <p:spPr>
          <a:xfrm>
            <a:off x="9189720" y="4645152"/>
            <a:ext cx="1371600" cy="182880"/>
          </a:xfrm>
          <a:prstGeom prst="rect">
            <a:avLst/>
          </a:prstGeom>
          <a:noFill/>
          <a:ln/>
        </p:spPr>
        <p:txBody>
          <a:bodyPr wrap="square" lIns="0" tIns="0" rIns="0" bIns="0" rtlCol="0" anchor="ctr"/>
          <a:lstStyle/>
          <a:p>
            <a:pPr marL="0" indent="0" algn="r">
              <a:buNone/>
            </a:pPr>
            <a:r>
              <a:rPr lang="en-US" sz="1000" b="1">
                <a:solidFill>
                  <a:srgbClr val="182230"/>
                </a:solidFill>
              </a:rPr>
              <a:t>Predicted &gt;50K</a:t>
            </a:r>
            <a:endParaRPr lang="en-US" sz="1000"/>
          </a:p>
        </p:txBody>
      </p:sp>
      <p:sp>
        <p:nvSpPr>
          <p:cNvPr id="29" name="Text 25"/>
          <p:cNvSpPr/>
          <p:nvPr/>
        </p:nvSpPr>
        <p:spPr>
          <a:xfrm>
            <a:off x="6583680" y="5285232"/>
            <a:ext cx="4251960" cy="256032"/>
          </a:xfrm>
          <a:prstGeom prst="rect">
            <a:avLst/>
          </a:prstGeom>
          <a:noFill/>
          <a:ln/>
        </p:spPr>
        <p:txBody>
          <a:bodyPr wrap="square" lIns="0" tIns="0" rIns="0" bIns="0" rtlCol="0" anchor="ctr"/>
          <a:lstStyle/>
          <a:p>
            <a:pPr marL="0" indent="0" algn="ctr">
              <a:buNone/>
            </a:pPr>
            <a:r>
              <a:rPr lang="en-US" sz="930" b="1">
                <a:solidFill>
                  <a:srgbClr val="E85353"/>
                </a:solidFill>
              </a:rPr>
              <a:t>⚠ This second profile resembles the group the model misses most often.</a:t>
            </a:r>
            <a:endParaRPr lang="en-US" sz="930"/>
          </a:p>
        </p:txBody>
      </p:sp>
      <p:sp>
        <p:nvSpPr>
          <p:cNvPr id="30" name="Text 26"/>
          <p:cNvSpPr/>
          <p:nvPr/>
        </p:nvSpPr>
        <p:spPr>
          <a:xfrm>
            <a:off x="566928" y="6336792"/>
            <a:ext cx="10561320" cy="137160"/>
          </a:xfrm>
          <a:prstGeom prst="rect">
            <a:avLst/>
          </a:prstGeom>
          <a:noFill/>
          <a:ln/>
        </p:spPr>
        <p:txBody>
          <a:bodyPr wrap="square" lIns="0" tIns="0" rIns="0" bIns="0" rtlCol="0" anchor="ctr"/>
          <a:lstStyle/>
          <a:p>
            <a:pPr marL="0" indent="0">
              <a:buNone/>
            </a:pPr>
            <a:r>
              <a:rPr lang="en-US" sz="650">
                <a:solidFill>
                  <a:srgbClr val="8A94A6"/>
                </a:solidFill>
              </a:rPr>
              <a:t>Made-up cases from the final notebook prediction function.</a:t>
            </a:r>
            <a:endParaRPr lang="en-US" sz="650"/>
          </a:p>
        </p:txBody>
      </p:sp>
      <p:sp>
        <p:nvSpPr>
          <p:cNvPr id="31"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384048"/>
            <a:ext cx="8138160" cy="457200"/>
          </a:xfrm>
          <a:prstGeom prst="rect">
            <a:avLst/>
          </a:prstGeom>
          <a:noFill/>
          <a:ln/>
        </p:spPr>
        <p:txBody>
          <a:bodyPr wrap="square" lIns="0" tIns="0" rIns="0" bIns="0" rtlCol="0" anchor="ctr"/>
          <a:lstStyle/>
          <a:p>
            <a:pPr marL="0" indent="0">
              <a:buNone/>
            </a:pPr>
            <a:r>
              <a:rPr lang="en-US" sz="2700" b="1">
                <a:solidFill>
                  <a:srgbClr val="0B1220"/>
                </a:solidFill>
                <a:latin typeface="Aptos Display" pitchFamily="34" charset="0"/>
                <a:ea typeface="Aptos Display" pitchFamily="34" charset="-122"/>
                <a:cs typeface="Aptos Display" pitchFamily="34" charset="-120"/>
              </a:rPr>
              <a:t>Recommendation</a:t>
            </a:r>
            <a:endParaRPr lang="en-US" sz="2700"/>
          </a:p>
        </p:txBody>
      </p:sp>
      <p:sp>
        <p:nvSpPr>
          <p:cNvPr id="3" name="Text 1"/>
          <p:cNvSpPr/>
          <p:nvPr/>
        </p:nvSpPr>
        <p:spPr>
          <a:xfrm>
            <a:off x="548640" y="859536"/>
            <a:ext cx="9966960" cy="256032"/>
          </a:xfrm>
          <a:prstGeom prst="rect">
            <a:avLst/>
          </a:prstGeom>
          <a:noFill/>
          <a:ln/>
        </p:spPr>
        <p:txBody>
          <a:bodyPr wrap="square" lIns="0" tIns="0" rIns="0" bIns="0" rtlCol="0" anchor="ctr"/>
          <a:lstStyle/>
          <a:p>
            <a:pPr marL="0" indent="0">
              <a:buNone/>
            </a:pPr>
            <a:r>
              <a:rPr lang="en-US" sz="1050">
                <a:solidFill>
                  <a:srgbClr val="667085"/>
                </a:solidFill>
              </a:rPr>
              <a:t>Use Gradient Boosting as a prioritisation aid — with clear boundaries</a:t>
            </a:r>
            <a:endParaRPr lang="en-US" sz="1050"/>
          </a:p>
        </p:txBody>
      </p:sp>
      <p:sp>
        <p:nvSpPr>
          <p:cNvPr id="4" name="Shape 2"/>
          <p:cNvSpPr/>
          <p:nvPr/>
        </p:nvSpPr>
        <p:spPr>
          <a:xfrm>
            <a:off x="530352" y="1152144"/>
            <a:ext cx="11109960" cy="0"/>
          </a:xfrm>
          <a:prstGeom prst="line">
            <a:avLst/>
          </a:prstGeom>
          <a:noFill/>
          <a:ln w="12700">
            <a:solidFill>
              <a:srgbClr val="DFE4EC"/>
            </a:solidFill>
            <a:prstDash val="solid"/>
          </a:ln>
        </p:spPr>
        <p:txBody>
          <a:bodyPr/>
          <a:lstStyle/>
          <a:p>
            <a:endParaRPr lang="nl-NL"/>
          </a:p>
        </p:txBody>
      </p:sp>
      <p:sp>
        <p:nvSpPr>
          <p:cNvPr id="5" name="Shape 3"/>
          <p:cNvSpPr/>
          <p:nvPr/>
        </p:nvSpPr>
        <p:spPr>
          <a:xfrm>
            <a:off x="566928" y="1417320"/>
            <a:ext cx="11045952" cy="1225296"/>
          </a:xfrm>
          <a:prstGeom prst="roundRect">
            <a:avLst>
              <a:gd name="adj" fmla="val 8955"/>
            </a:avLst>
          </a:prstGeom>
          <a:solidFill>
            <a:srgbClr val="0B1220"/>
          </a:solidFill>
          <a:ln w="12700">
            <a:solidFill>
              <a:srgbClr val="0B1220"/>
            </a:solidFill>
            <a:prstDash val="solid"/>
          </a:ln>
          <a:effectLst>
            <a:outerShdw blurRad="19050" dist="50800" dir="2700000" algn="bl" rotWithShape="0">
              <a:srgbClr val="BBC4D1">
                <a:alpha val="18000"/>
              </a:srgbClr>
            </a:outerShdw>
          </a:effectLst>
        </p:spPr>
        <p:txBody>
          <a:bodyPr/>
          <a:lstStyle/>
          <a:p>
            <a:endParaRPr lang="nl-NL"/>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6112" y="1792224"/>
            <a:ext cx="420624" cy="420624"/>
          </a:xfrm>
          <a:prstGeom prst="rect">
            <a:avLst/>
          </a:prstGeom>
        </p:spPr>
      </p:pic>
      <p:sp>
        <p:nvSpPr>
          <p:cNvPr id="7" name="Text 4"/>
          <p:cNvSpPr/>
          <p:nvPr/>
        </p:nvSpPr>
        <p:spPr>
          <a:xfrm>
            <a:off x="1481328" y="1664208"/>
            <a:ext cx="4206240" cy="329184"/>
          </a:xfrm>
          <a:prstGeom prst="rect">
            <a:avLst/>
          </a:prstGeom>
          <a:noFill/>
          <a:ln/>
        </p:spPr>
        <p:txBody>
          <a:bodyPr wrap="square" lIns="0" tIns="0" rIns="0" bIns="0" rtlCol="0" anchor="ctr"/>
          <a:lstStyle/>
          <a:p>
            <a:pPr marL="0" indent="0">
              <a:buNone/>
            </a:pPr>
            <a:r>
              <a:rPr lang="en-US" sz="2300" b="1">
                <a:solidFill>
                  <a:srgbClr val="FFFFFF"/>
                </a:solidFill>
              </a:rPr>
              <a:t>Recommend Gradient Boosting</a:t>
            </a:r>
            <a:endParaRPr lang="en-US" sz="2300"/>
          </a:p>
        </p:txBody>
      </p:sp>
      <p:sp>
        <p:nvSpPr>
          <p:cNvPr id="8" name="Text 5"/>
          <p:cNvSpPr/>
          <p:nvPr/>
        </p:nvSpPr>
        <p:spPr>
          <a:xfrm>
            <a:off x="1490472" y="2084832"/>
            <a:ext cx="5577840" cy="228600"/>
          </a:xfrm>
          <a:prstGeom prst="rect">
            <a:avLst/>
          </a:prstGeom>
          <a:noFill/>
          <a:ln/>
        </p:spPr>
        <p:txBody>
          <a:bodyPr wrap="square" lIns="0" tIns="0" rIns="0" bIns="0" rtlCol="0" anchor="ctr"/>
          <a:lstStyle/>
          <a:p>
            <a:pPr marL="0" indent="0">
              <a:buNone/>
            </a:pPr>
            <a:r>
              <a:rPr lang="en-US" sz="1050">
                <a:solidFill>
                  <a:srgbClr val="C6CFDC"/>
                </a:solidFill>
              </a:rPr>
              <a:t>Balanced accuracy 0.845 · strong precision · stable CV → test performance</a:t>
            </a:r>
            <a:endParaRPr lang="en-US" sz="1050"/>
          </a:p>
        </p:txBody>
      </p:sp>
      <p:sp>
        <p:nvSpPr>
          <p:cNvPr id="9" name="Shape 6"/>
          <p:cNvSpPr/>
          <p:nvPr/>
        </p:nvSpPr>
        <p:spPr>
          <a:xfrm>
            <a:off x="10012680" y="1755648"/>
            <a:ext cx="1234440" cy="310896"/>
          </a:xfrm>
          <a:prstGeom prst="roundRect">
            <a:avLst>
              <a:gd name="adj" fmla="val 23529"/>
            </a:avLst>
          </a:prstGeom>
          <a:solidFill>
            <a:srgbClr val="243149"/>
          </a:solidFill>
          <a:ln w="12700">
            <a:solidFill>
              <a:srgbClr val="243149"/>
            </a:solidFill>
            <a:prstDash val="solid"/>
          </a:ln>
        </p:spPr>
        <p:txBody>
          <a:bodyPr/>
          <a:lstStyle/>
          <a:p>
            <a:endParaRPr lang="nl-NL"/>
          </a:p>
        </p:txBody>
      </p:sp>
      <p:sp>
        <p:nvSpPr>
          <p:cNvPr id="10" name="Text 7"/>
          <p:cNvSpPr/>
          <p:nvPr/>
        </p:nvSpPr>
        <p:spPr>
          <a:xfrm>
            <a:off x="10085832" y="1805940"/>
            <a:ext cx="1088136" cy="182880"/>
          </a:xfrm>
          <a:prstGeom prst="rect">
            <a:avLst/>
          </a:prstGeom>
          <a:noFill/>
          <a:ln/>
        </p:spPr>
        <p:txBody>
          <a:bodyPr wrap="square" lIns="0" tIns="0" rIns="0" bIns="0" rtlCol="0" anchor="ctr"/>
          <a:lstStyle/>
          <a:p>
            <a:pPr marL="0" indent="0" algn="ctr">
              <a:buNone/>
            </a:pPr>
            <a:r>
              <a:rPr lang="en-US" sz="840" b="1">
                <a:solidFill>
                  <a:srgbClr val="C7D0FF"/>
                </a:solidFill>
              </a:rPr>
              <a:t>threshold 0.50</a:t>
            </a:r>
            <a:endParaRPr lang="en-US" sz="840"/>
          </a:p>
        </p:txBody>
      </p:sp>
      <p:sp>
        <p:nvSpPr>
          <p:cNvPr id="11" name="Shape 8"/>
          <p:cNvSpPr/>
          <p:nvPr/>
        </p:nvSpPr>
        <p:spPr>
          <a:xfrm>
            <a:off x="566928" y="3017520"/>
            <a:ext cx="3456432" cy="2084832"/>
          </a:xfrm>
          <a:prstGeom prst="roundRect">
            <a:avLst>
              <a:gd name="adj" fmla="val 5263"/>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2" name="Shape 9"/>
          <p:cNvSpPr/>
          <p:nvPr/>
        </p:nvSpPr>
        <p:spPr>
          <a:xfrm>
            <a:off x="822960" y="3310128"/>
            <a:ext cx="530352" cy="530352"/>
          </a:xfrm>
          <a:prstGeom prst="ellipse">
            <a:avLst/>
          </a:prstGeom>
          <a:solidFill>
            <a:srgbClr val="EEF0FF"/>
          </a:solidFill>
          <a:ln w="12700">
            <a:solidFill>
              <a:srgbClr val="EEF0FF"/>
            </a:solidFill>
            <a:prstDash val="solid"/>
          </a:ln>
        </p:spPr>
        <p:txBody>
          <a:bodyPr/>
          <a:lstStyle/>
          <a:p>
            <a:endParaRPr lang="nl-NL"/>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7552" y="3465576"/>
            <a:ext cx="210312" cy="210312"/>
          </a:xfrm>
          <a:prstGeom prst="rect">
            <a:avLst/>
          </a:prstGeom>
        </p:spPr>
      </p:pic>
      <p:sp>
        <p:nvSpPr>
          <p:cNvPr id="14" name="Text 10"/>
          <p:cNvSpPr/>
          <p:nvPr/>
        </p:nvSpPr>
        <p:spPr>
          <a:xfrm>
            <a:off x="1481328" y="3364992"/>
            <a:ext cx="2148840" cy="237744"/>
          </a:xfrm>
          <a:prstGeom prst="rect">
            <a:avLst/>
          </a:prstGeom>
          <a:noFill/>
          <a:ln/>
        </p:spPr>
        <p:txBody>
          <a:bodyPr wrap="square" lIns="0" tIns="0" rIns="0" bIns="0" rtlCol="0" anchor="ctr"/>
          <a:lstStyle/>
          <a:p>
            <a:pPr marL="0" indent="0">
              <a:buNone/>
            </a:pPr>
            <a:r>
              <a:rPr lang="en-US" sz="1300" b="1">
                <a:solidFill>
                  <a:srgbClr val="0B1220"/>
                </a:solidFill>
              </a:rPr>
              <a:t>Why it fits</a:t>
            </a:r>
            <a:endParaRPr lang="en-US" sz="1300"/>
          </a:p>
        </p:txBody>
      </p:sp>
      <p:sp>
        <p:nvSpPr>
          <p:cNvPr id="15" name="Text 11"/>
          <p:cNvSpPr/>
          <p:nvPr/>
        </p:nvSpPr>
        <p:spPr>
          <a:xfrm>
            <a:off x="841248" y="4041648"/>
            <a:ext cx="2907792" cy="768096"/>
          </a:xfrm>
          <a:prstGeom prst="rect">
            <a:avLst/>
          </a:prstGeom>
          <a:noFill/>
          <a:ln/>
        </p:spPr>
        <p:txBody>
          <a:bodyPr wrap="square" lIns="0" tIns="0" rIns="0" bIns="0" rtlCol="0" anchor="ctr"/>
          <a:lstStyle/>
          <a:p>
            <a:pPr marL="0" indent="0">
              <a:buNone/>
            </a:pPr>
            <a:r>
              <a:rPr lang="en-US" sz="1030">
                <a:solidFill>
                  <a:srgbClr val="667085"/>
                </a:solidFill>
              </a:rPr>
              <a:t>Best overall balance between finding low-income cases and avoiding unnecessary visits.</a:t>
            </a:r>
            <a:endParaRPr lang="en-US" sz="1030"/>
          </a:p>
        </p:txBody>
      </p:sp>
      <p:sp>
        <p:nvSpPr>
          <p:cNvPr id="16" name="Shape 12"/>
          <p:cNvSpPr/>
          <p:nvPr/>
        </p:nvSpPr>
        <p:spPr>
          <a:xfrm>
            <a:off x="4361688" y="3017520"/>
            <a:ext cx="3456432" cy="2084832"/>
          </a:xfrm>
          <a:prstGeom prst="roundRect">
            <a:avLst>
              <a:gd name="adj" fmla="val 5263"/>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17" name="Shape 13"/>
          <p:cNvSpPr/>
          <p:nvPr/>
        </p:nvSpPr>
        <p:spPr>
          <a:xfrm>
            <a:off x="4617720" y="3310128"/>
            <a:ext cx="530352" cy="530352"/>
          </a:xfrm>
          <a:prstGeom prst="ellipse">
            <a:avLst/>
          </a:prstGeom>
          <a:solidFill>
            <a:srgbClr val="EAFBF7"/>
          </a:solidFill>
          <a:ln w="12700">
            <a:solidFill>
              <a:srgbClr val="EAFBF7"/>
            </a:solidFill>
            <a:prstDash val="solid"/>
          </a:ln>
        </p:spPr>
        <p:txBody>
          <a:bodyPr/>
          <a:lstStyle/>
          <a:p>
            <a:endParaRPr lang="nl-NL"/>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82312" y="3465576"/>
            <a:ext cx="210312" cy="210312"/>
          </a:xfrm>
          <a:prstGeom prst="rect">
            <a:avLst/>
          </a:prstGeom>
        </p:spPr>
      </p:pic>
      <p:sp>
        <p:nvSpPr>
          <p:cNvPr id="19" name="Text 14"/>
          <p:cNvSpPr/>
          <p:nvPr/>
        </p:nvSpPr>
        <p:spPr>
          <a:xfrm>
            <a:off x="5276088" y="3364992"/>
            <a:ext cx="2148840" cy="237744"/>
          </a:xfrm>
          <a:prstGeom prst="rect">
            <a:avLst/>
          </a:prstGeom>
          <a:noFill/>
          <a:ln/>
        </p:spPr>
        <p:txBody>
          <a:bodyPr wrap="square" lIns="0" tIns="0" rIns="0" bIns="0" rtlCol="0" anchor="ctr"/>
          <a:lstStyle/>
          <a:p>
            <a:pPr marL="0" indent="0">
              <a:buNone/>
            </a:pPr>
            <a:r>
              <a:rPr lang="en-US" sz="1300" b="1">
                <a:solidFill>
                  <a:srgbClr val="0B1220"/>
                </a:solidFill>
              </a:rPr>
              <a:t>What we would change</a:t>
            </a:r>
            <a:endParaRPr lang="en-US" sz="1300"/>
          </a:p>
        </p:txBody>
      </p:sp>
      <p:sp>
        <p:nvSpPr>
          <p:cNvPr id="20" name="Text 15"/>
          <p:cNvSpPr/>
          <p:nvPr/>
        </p:nvSpPr>
        <p:spPr>
          <a:xfrm>
            <a:off x="4636008" y="4041648"/>
            <a:ext cx="2907792" cy="768096"/>
          </a:xfrm>
          <a:prstGeom prst="rect">
            <a:avLst/>
          </a:prstGeom>
          <a:noFill/>
          <a:ln/>
        </p:spPr>
        <p:txBody>
          <a:bodyPr wrap="square" lIns="0" tIns="0" rIns="0" bIns="0" rtlCol="0" anchor="ctr"/>
          <a:lstStyle/>
          <a:p>
            <a:pPr marL="0" indent="0">
              <a:buNone/>
            </a:pPr>
            <a:r>
              <a:rPr lang="en-US" sz="1030">
                <a:solidFill>
                  <a:srgbClr val="667085"/>
                </a:solidFill>
              </a:rPr>
              <a:t>Retrain on recent, local data and review threshold once real outreach capacity and costs are known.</a:t>
            </a:r>
            <a:endParaRPr lang="en-US" sz="1030"/>
          </a:p>
        </p:txBody>
      </p:sp>
      <p:sp>
        <p:nvSpPr>
          <p:cNvPr id="21" name="Shape 16"/>
          <p:cNvSpPr/>
          <p:nvPr/>
        </p:nvSpPr>
        <p:spPr>
          <a:xfrm>
            <a:off x="8156448" y="3017520"/>
            <a:ext cx="3456432" cy="2084832"/>
          </a:xfrm>
          <a:prstGeom prst="roundRect">
            <a:avLst>
              <a:gd name="adj" fmla="val 5263"/>
            </a:avLst>
          </a:prstGeom>
          <a:solidFill>
            <a:srgbClr val="FFFFFF"/>
          </a:solidFill>
          <a:ln w="12700">
            <a:solidFill>
              <a:srgbClr val="DFE4EC"/>
            </a:solidFill>
            <a:prstDash val="solid"/>
          </a:ln>
          <a:effectLst>
            <a:outerShdw blurRad="19050" dist="50800" dir="2700000" algn="bl" rotWithShape="0">
              <a:srgbClr val="BBC4D1">
                <a:alpha val="18000"/>
              </a:srgbClr>
            </a:outerShdw>
          </a:effectLst>
        </p:spPr>
        <p:txBody>
          <a:bodyPr/>
          <a:lstStyle/>
          <a:p>
            <a:endParaRPr lang="nl-NL"/>
          </a:p>
        </p:txBody>
      </p:sp>
      <p:sp>
        <p:nvSpPr>
          <p:cNvPr id="22" name="Shape 17"/>
          <p:cNvSpPr/>
          <p:nvPr/>
        </p:nvSpPr>
        <p:spPr>
          <a:xfrm>
            <a:off x="8412480" y="3310128"/>
            <a:ext cx="530352" cy="530352"/>
          </a:xfrm>
          <a:prstGeom prst="ellipse">
            <a:avLst/>
          </a:prstGeom>
          <a:solidFill>
            <a:srgbClr val="FDEEEE"/>
          </a:solidFill>
          <a:ln w="12700">
            <a:solidFill>
              <a:srgbClr val="FDEEEE"/>
            </a:solidFill>
            <a:prstDash val="solid"/>
          </a:ln>
        </p:spPr>
        <p:txBody>
          <a:bodyPr/>
          <a:lstStyle/>
          <a:p>
            <a:endParaRPr lang="nl-NL"/>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77072" y="3465576"/>
            <a:ext cx="210312" cy="210312"/>
          </a:xfrm>
          <a:prstGeom prst="rect">
            <a:avLst/>
          </a:prstGeom>
        </p:spPr>
      </p:pic>
      <p:sp>
        <p:nvSpPr>
          <p:cNvPr id="24" name="Text 18"/>
          <p:cNvSpPr/>
          <p:nvPr/>
        </p:nvSpPr>
        <p:spPr>
          <a:xfrm>
            <a:off x="9070848" y="3364992"/>
            <a:ext cx="2148840" cy="237744"/>
          </a:xfrm>
          <a:prstGeom prst="rect">
            <a:avLst/>
          </a:prstGeom>
          <a:noFill/>
          <a:ln/>
        </p:spPr>
        <p:txBody>
          <a:bodyPr wrap="square" lIns="0" tIns="0" rIns="0" bIns="0" rtlCol="0" anchor="ctr"/>
          <a:lstStyle/>
          <a:p>
            <a:pPr marL="0" indent="0">
              <a:buNone/>
            </a:pPr>
            <a:r>
              <a:rPr lang="en-US" sz="1300" b="1">
                <a:solidFill>
                  <a:srgbClr val="0B1220"/>
                </a:solidFill>
              </a:rPr>
              <a:t>When not to use it</a:t>
            </a:r>
            <a:endParaRPr lang="en-US" sz="1300"/>
          </a:p>
        </p:txBody>
      </p:sp>
      <p:sp>
        <p:nvSpPr>
          <p:cNvPr id="25" name="Text 19"/>
          <p:cNvSpPr/>
          <p:nvPr/>
        </p:nvSpPr>
        <p:spPr>
          <a:xfrm>
            <a:off x="8430768" y="4041648"/>
            <a:ext cx="2907792" cy="768096"/>
          </a:xfrm>
          <a:prstGeom prst="rect">
            <a:avLst/>
          </a:prstGeom>
          <a:noFill/>
          <a:ln/>
        </p:spPr>
        <p:txBody>
          <a:bodyPr wrap="square" lIns="0" tIns="0" rIns="0" bIns="0" rtlCol="0" anchor="ctr"/>
          <a:lstStyle/>
          <a:p>
            <a:pPr marL="0" indent="0">
              <a:buNone/>
            </a:pPr>
            <a:r>
              <a:rPr lang="en-US" sz="1030">
                <a:solidFill>
                  <a:srgbClr val="667085"/>
                </a:solidFill>
              </a:rPr>
              <a:t>Do not use this 1994 US model directly for Dutch welfare decisions or as an automated gatekeeper.</a:t>
            </a:r>
            <a:endParaRPr lang="en-US" sz="1030"/>
          </a:p>
        </p:txBody>
      </p:sp>
      <p:sp>
        <p:nvSpPr>
          <p:cNvPr id="26" name="Text 20"/>
          <p:cNvSpPr/>
          <p:nvPr/>
        </p:nvSpPr>
        <p:spPr>
          <a:xfrm>
            <a:off x="621792" y="5513832"/>
            <a:ext cx="1280160" cy="164592"/>
          </a:xfrm>
          <a:prstGeom prst="rect">
            <a:avLst/>
          </a:prstGeom>
          <a:noFill/>
          <a:ln/>
        </p:spPr>
        <p:txBody>
          <a:bodyPr wrap="square" lIns="0" tIns="0" rIns="0" bIns="0" rtlCol="0" anchor="ctr"/>
          <a:lstStyle/>
          <a:p>
            <a:pPr marL="0" indent="0">
              <a:buNone/>
            </a:pPr>
            <a:r>
              <a:rPr lang="en-US" sz="800" b="1">
                <a:solidFill>
                  <a:srgbClr val="667085"/>
                </a:solidFill>
              </a:rPr>
              <a:t>One-line takeaway</a:t>
            </a:r>
            <a:endParaRPr lang="en-US" sz="800"/>
          </a:p>
        </p:txBody>
      </p:sp>
      <p:sp>
        <p:nvSpPr>
          <p:cNvPr id="27" name="Text 21"/>
          <p:cNvSpPr/>
          <p:nvPr/>
        </p:nvSpPr>
        <p:spPr>
          <a:xfrm>
            <a:off x="1920240" y="5422392"/>
            <a:ext cx="9052560" cy="329184"/>
          </a:xfrm>
          <a:prstGeom prst="rect">
            <a:avLst/>
          </a:prstGeom>
          <a:noFill/>
          <a:ln/>
        </p:spPr>
        <p:txBody>
          <a:bodyPr wrap="square" lIns="0" tIns="0" rIns="0" bIns="0" rtlCol="0" anchor="ctr"/>
          <a:lstStyle/>
          <a:p>
            <a:pPr marL="0" indent="0">
              <a:buNone/>
            </a:pPr>
            <a:r>
              <a:rPr lang="en-US" sz="1600" b="1">
                <a:solidFill>
                  <a:srgbClr val="0B1220"/>
                </a:solidFill>
              </a:rPr>
              <a:t>Good model comparison. Useful prototype. Not deployable without newer, local data and human oversight.</a:t>
            </a:r>
            <a:endParaRPr lang="en-US" sz="1600"/>
          </a:p>
        </p:txBody>
      </p:sp>
      <p:sp>
        <p:nvSpPr>
          <p:cNvPr id="28" name="Slide Number Placeholder 0"/>
          <p:cNvSpPr>
            <a:spLocks noGrp="1"/>
          </p:cNvSpPr>
          <p:nvPr>
            <p:ph type="sldNum" sz="quarter" idx="4294967295"/>
          </p:nvPr>
        </p:nvSpPr>
        <p:spPr>
          <a:xfrm>
            <a:off x="11503152" y="6629400"/>
            <a:ext cx="237744" cy="146304"/>
          </a:xfrm>
          <a:prstGeom prst="rect">
            <a:avLst/>
          </a:prstGeom>
          <a:extLst>
            <a:ext uri="{C572A759-6A51-4108-AA02-DFA0A04FC94B}">
              <ma14:wrappingTextBoxFlag xmlns="" xmlns:ma14="http://schemas.microsoft.com/office/mac/drawingml/2011/main" val="0"/>
            </a:ext>
          </a:extLst>
        </p:spPr>
        <p:txBody>
          <a:bodyPr/>
          <a:lstStyle>
            <a:lvl1pPr>
              <a:defRPr sz="700">
                <a:solidFill>
                  <a:srgbClr val="D7DCE8"/>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2EC99B4CD97A7408931FBFCC7910F26" ma:contentTypeVersion="11" ma:contentTypeDescription="Een nieuw document maken." ma:contentTypeScope="" ma:versionID="68d3511e74b61e93ad7f29647f8223c3">
  <xsd:schema xmlns:xsd="http://www.w3.org/2001/XMLSchema" xmlns:xs="http://www.w3.org/2001/XMLSchema" xmlns:p="http://schemas.microsoft.com/office/2006/metadata/properties" xmlns:ns3="c4e5fb72-feb8-4c33-bcbc-fd3758a8aa16" targetNamespace="http://schemas.microsoft.com/office/2006/metadata/properties" ma:root="true" ma:fieldsID="ab75f12854df9266d157b196ab67ae20" ns3:_="">
    <xsd:import namespace="c4e5fb72-feb8-4c33-bcbc-fd3758a8aa1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5fb72-feb8-4c33-bcbc-fd3758a8aa1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4e5fb72-feb8-4c33-bcbc-fd3758a8aa16" xsi:nil="true"/>
  </documentManagement>
</p:properties>
</file>

<file path=customXml/itemProps1.xml><?xml version="1.0" encoding="utf-8"?>
<ds:datastoreItem xmlns:ds="http://schemas.openxmlformats.org/officeDocument/2006/customXml" ds:itemID="{47B6AFEE-71CF-4D0B-B242-F01D5880CA4C}">
  <ds:schemaRefs>
    <ds:schemaRef ds:uri="http://schemas.microsoft.com/sharepoint/v3/contenttype/forms"/>
  </ds:schemaRefs>
</ds:datastoreItem>
</file>

<file path=customXml/itemProps2.xml><?xml version="1.0" encoding="utf-8"?>
<ds:datastoreItem xmlns:ds="http://schemas.openxmlformats.org/officeDocument/2006/customXml" ds:itemID="{8DC1EE74-5F9A-400E-AA05-EB760F512112}">
  <ds:schemaRefs>
    <ds:schemaRef ds:uri="c4e5fb72-feb8-4c33-bcbc-fd3758a8aa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2BD5D38-8CF2-4FA4-A472-6C3ACA9D9731}">
  <ds:schemaRefs>
    <ds:schemaRef ds:uri="c4e5fb72-feb8-4c33-bcbc-fd3758a8aa16"/>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Hague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Income Predictor — Hackathon 5: Model Showdown</dc:title>
  <dc:subject>AI for Good Hackathon 5 — Income Predictor</dc:subject>
  <dc:creator>Oguzhan Bolluk &amp; Ahmet</dc:creator>
  <cp:revision>2</cp:revision>
  <dcterms:created xsi:type="dcterms:W3CDTF">2026-10-08T13:09:28Z</dcterms:created>
  <dcterms:modified xsi:type="dcterms:W3CDTF">2026-10-08T20:43:11Z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0x010100F2EC99B4CD97A7408931FBFCC7910F26</vt:lpwstr>
  </property>
</Properties>
</file>